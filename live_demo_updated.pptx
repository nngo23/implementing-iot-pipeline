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61" r:id="rId5"/>
    <p:sldId id="260" r:id="rId6"/>
    <p:sldId id="259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569" autoAdjust="0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3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80194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?>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3" name="Text 1"/>
          <p:cNvSpPr/>
          <p:nvPr/>
        </p:nvSpPr>
        <p:spPr>
          <a:xfrm>
            <a:off x="411480" y="137160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Voice Search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411480" y="2423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right candidates, hands-free — Live demo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30632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4A7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→ Transcription → Search → Slack / Email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4297680"/>
            <a:ext cx="2194560" cy="3840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7" name="Text 5"/>
          <p:cNvSpPr/>
          <p:nvPr/>
        </p:nvSpPr>
        <p:spPr>
          <a:xfrm>
            <a:off x="411480" y="429768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v1.0.1  |  FastAPI + React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20040" y="1097280"/>
            <a:ext cx="2697480" cy="3291840"/>
          </a:xfrm>
          <a:prstGeom prst="rect">
            <a:avLst/>
          </a:prstGeom>
          <a:solidFill>
            <a:srgbClr val="F0F6FF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3258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9659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search is slow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2514600"/>
            <a:ext cx="2423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Recruiters burn hours scrolling through CVs trying to match role, salary, and location — all at once.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200400" y="1097280"/>
            <a:ext cx="2697480" cy="3291840"/>
          </a:xfrm>
          <a:prstGeom prst="rect">
            <a:avLst/>
          </a:prstGeom>
          <a:solidFill>
            <a:srgbClr val="F0F6FF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0" y="1325880"/>
            <a:ext cx="502920" cy="5029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337560" y="19659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are rigid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3337560" y="2514600"/>
            <a:ext cx="2423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ATS tools need you to get the wording exactly right. Search for 'welder with ISO cert' and you'll likely get nothing useful back.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080760" y="1097280"/>
            <a:ext cx="2697480" cy="3291840"/>
          </a:xfrm>
          <a:prstGeom prst="rect">
            <a:avLst/>
          </a:prstGeom>
          <a:solidFill>
            <a:srgbClr val="F0F6FF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1325880"/>
            <a:ext cx="502920" cy="5029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217920" y="19659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stay in the tool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6217920" y="2514600"/>
            <a:ext cx="2423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when you find the right people, getting that list to your team is still a whole separate job.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say what you're looking for. Top candidates show up in under a minute, straight to your team.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78992" y="1554480"/>
            <a:ext cx="685800" cy="685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18488"/>
            <a:ext cx="548640" cy="5486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167128" y="1892808"/>
            <a:ext cx="91440" cy="0"/>
          </a:xfrm>
          <a:prstGeom prst="line">
            <a:avLst/>
          </a:prstGeom>
          <a:noFill/>
          <a:ln w="19050">
            <a:solidFill>
              <a:srgbClr val="4A7FA5"/>
            </a:solidFill>
            <a:prstDash val="dash"/>
          </a:ln>
        </p:spPr>
        <p:txBody>
          <a:bodyPr/>
          <a:lstStyle/>
          <a:p>
            <a:endParaRPr lang="en-FI"/>
          </a:p>
        </p:txBody>
      </p:sp>
      <p:sp>
        <p:nvSpPr>
          <p:cNvPr id="7" name="Text 4"/>
          <p:cNvSpPr/>
          <p:nvPr/>
        </p:nvSpPr>
        <p:spPr>
          <a:xfrm>
            <a:off x="694944" y="23774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94944" y="272491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7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voice command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651760" y="1554480"/>
            <a:ext cx="685800" cy="685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5768" y="1618488"/>
            <a:ext cx="548640" cy="54864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739896" y="1892808"/>
            <a:ext cx="91440" cy="0"/>
          </a:xfrm>
          <a:prstGeom prst="line">
            <a:avLst/>
          </a:prstGeom>
          <a:noFill/>
          <a:ln w="19050">
            <a:solidFill>
              <a:srgbClr val="4A7FA5"/>
            </a:solidFill>
            <a:prstDash val="dash"/>
          </a:ln>
        </p:spPr>
        <p:txBody>
          <a:bodyPr/>
          <a:lstStyle/>
          <a:p>
            <a:endParaRPr lang="en-FI"/>
          </a:p>
        </p:txBody>
      </p:sp>
      <p:sp>
        <p:nvSpPr>
          <p:cNvPr id="12" name="Text 8"/>
          <p:cNvSpPr/>
          <p:nvPr/>
        </p:nvSpPr>
        <p:spPr>
          <a:xfrm>
            <a:off x="2267712" y="23774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Transcribe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2267712" y="272491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7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AI → text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224528" y="1554480"/>
            <a:ext cx="685800" cy="685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8536" y="1618488"/>
            <a:ext cx="548640" cy="54864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312664" y="1892808"/>
            <a:ext cx="91440" cy="0"/>
          </a:xfrm>
          <a:prstGeom prst="line">
            <a:avLst/>
          </a:prstGeom>
          <a:noFill/>
          <a:ln w="19050">
            <a:solidFill>
              <a:srgbClr val="4A7FA5"/>
            </a:solidFill>
            <a:prstDash val="dash"/>
          </a:ln>
        </p:spPr>
        <p:txBody>
          <a:bodyPr/>
          <a:lstStyle/>
          <a:p>
            <a:endParaRPr lang="en-FI"/>
          </a:p>
        </p:txBody>
      </p:sp>
      <p:sp>
        <p:nvSpPr>
          <p:cNvPr id="17" name="Text 12"/>
          <p:cNvSpPr/>
          <p:nvPr/>
        </p:nvSpPr>
        <p:spPr>
          <a:xfrm>
            <a:off x="3840480" y="23774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3840480" y="272491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7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Jina embed + Qdrant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797296" y="1554480"/>
            <a:ext cx="685800" cy="685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61304" y="1618488"/>
            <a:ext cx="548640" cy="548640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6885432" y="1892808"/>
            <a:ext cx="91440" cy="0"/>
          </a:xfrm>
          <a:prstGeom prst="line">
            <a:avLst/>
          </a:prstGeom>
          <a:noFill/>
          <a:ln w="19050">
            <a:solidFill>
              <a:srgbClr val="4A7FA5"/>
            </a:solidFill>
            <a:prstDash val="dash"/>
          </a:ln>
        </p:spPr>
        <p:txBody>
          <a:bodyPr/>
          <a:lstStyle/>
          <a:p>
            <a:endParaRPr lang="en-FI"/>
          </a:p>
        </p:txBody>
      </p:sp>
      <p:sp>
        <p:nvSpPr>
          <p:cNvPr id="22" name="Text 16"/>
          <p:cNvSpPr/>
          <p:nvPr/>
        </p:nvSpPr>
        <p:spPr>
          <a:xfrm>
            <a:off x="5413248" y="23774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5413248" y="272491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7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Experience-first sort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7370064" y="1554480"/>
            <a:ext cx="685800" cy="685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34072" y="1618488"/>
            <a:ext cx="548640" cy="54864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986016" y="23774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6986016" y="272491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7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/ Email via N8N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457200" y="3429000"/>
            <a:ext cx="1874520" cy="1325880"/>
          </a:xfrm>
          <a:prstGeom prst="rect">
            <a:avLst/>
          </a:prstGeom>
          <a:solidFill>
            <a:srgbClr val="F0F6FF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29" name="Text 22"/>
          <p:cNvSpPr/>
          <p:nvPr/>
        </p:nvSpPr>
        <p:spPr>
          <a:xfrm>
            <a:off x="457200" y="352044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min</a:t>
            </a:r>
            <a:endParaRPr lang="en-US" sz="2800" dirty="0"/>
          </a:p>
        </p:txBody>
      </p:sp>
      <p:sp>
        <p:nvSpPr>
          <p:cNvPr id="30" name="Text 23"/>
          <p:cNvSpPr/>
          <p:nvPr/>
        </p:nvSpPr>
        <p:spPr>
          <a:xfrm>
            <a:off x="457200" y="413308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7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 appear</a:t>
            </a:r>
            <a:endParaRPr lang="en-US" sz="1100" dirty="0"/>
          </a:p>
        </p:txBody>
      </p:sp>
      <p:sp>
        <p:nvSpPr>
          <p:cNvPr id="31" name="Shape 24"/>
          <p:cNvSpPr/>
          <p:nvPr/>
        </p:nvSpPr>
        <p:spPr>
          <a:xfrm>
            <a:off x="2514600" y="3429000"/>
            <a:ext cx="1874520" cy="1325880"/>
          </a:xfrm>
          <a:prstGeom prst="rect">
            <a:avLst/>
          </a:prstGeom>
          <a:solidFill>
            <a:srgbClr val="F0F6FF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32" name="Text 25"/>
          <p:cNvSpPr/>
          <p:nvPr/>
        </p:nvSpPr>
        <p:spPr>
          <a:xfrm>
            <a:off x="2514600" y="352044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</a:t>
            </a:r>
            <a:endParaRPr lang="en-US" sz="2800" dirty="0"/>
          </a:p>
        </p:txBody>
      </p:sp>
      <p:sp>
        <p:nvSpPr>
          <p:cNvPr id="33" name="Text 26"/>
          <p:cNvSpPr/>
          <p:nvPr/>
        </p:nvSpPr>
        <p:spPr>
          <a:xfrm>
            <a:off x="2514600" y="413308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7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experience-ranked</a:t>
            </a:r>
            <a:endParaRPr lang="en-US" sz="1100" dirty="0"/>
          </a:p>
        </p:txBody>
      </p:sp>
      <p:sp>
        <p:nvSpPr>
          <p:cNvPr id="34" name="Shape 27"/>
          <p:cNvSpPr/>
          <p:nvPr/>
        </p:nvSpPr>
        <p:spPr>
          <a:xfrm>
            <a:off x="4572000" y="3429000"/>
            <a:ext cx="1874520" cy="1325880"/>
          </a:xfrm>
          <a:prstGeom prst="rect">
            <a:avLst/>
          </a:prstGeom>
          <a:solidFill>
            <a:srgbClr val="F0F6FF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35" name="Text 28"/>
          <p:cNvSpPr/>
          <p:nvPr/>
        </p:nvSpPr>
        <p:spPr>
          <a:xfrm>
            <a:off x="4572000" y="352044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</a:t>
            </a:r>
            <a:endParaRPr lang="en-US" sz="2800" dirty="0"/>
          </a:p>
        </p:txBody>
      </p:sp>
      <p:sp>
        <p:nvSpPr>
          <p:cNvPr id="36" name="Text 29"/>
          <p:cNvSpPr/>
          <p:nvPr/>
        </p:nvSpPr>
        <p:spPr>
          <a:xfrm>
            <a:off x="4572000" y="413308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7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explanation</a:t>
            </a:r>
            <a:endParaRPr lang="en-US" sz="1100" dirty="0"/>
          </a:p>
        </p:txBody>
      </p:sp>
      <p:sp>
        <p:nvSpPr>
          <p:cNvPr id="37" name="Shape 30"/>
          <p:cNvSpPr/>
          <p:nvPr/>
        </p:nvSpPr>
        <p:spPr>
          <a:xfrm>
            <a:off x="6629400" y="3429000"/>
            <a:ext cx="1874520" cy="1325880"/>
          </a:xfrm>
          <a:prstGeom prst="rect">
            <a:avLst/>
          </a:prstGeom>
          <a:solidFill>
            <a:srgbClr val="F0F6FF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38" name="Text 31"/>
          <p:cNvSpPr/>
          <p:nvPr/>
        </p:nvSpPr>
        <p:spPr>
          <a:xfrm>
            <a:off x="6629400" y="352044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</a:t>
            </a:r>
            <a:endParaRPr lang="en-US" sz="2800" dirty="0"/>
          </a:p>
        </p:txBody>
      </p:sp>
      <p:sp>
        <p:nvSpPr>
          <p:cNvPr id="39" name="Text 32"/>
          <p:cNvSpPr/>
          <p:nvPr/>
        </p:nvSpPr>
        <p:spPr>
          <a:xfrm>
            <a:off x="6629400" y="413308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7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streaming UI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Technical Features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74320" y="1005840"/>
            <a:ext cx="4114800" cy="1170432"/>
          </a:xfrm>
          <a:prstGeom prst="rect">
            <a:avLst/>
          </a:prstGeom>
          <a:solidFill>
            <a:srgbClr val="1E293B"/>
          </a:solidFill>
          <a:ln w="12700">
            <a:solidFill>
              <a:srgbClr val="E8F4FD"/>
            </a:solidFill>
            <a:prstDash val="solid"/>
          </a:ln>
          <a:effectLst>
            <a:outerShdw blurRad="50800" dist="25400" dir="8100000" algn="bl" rotWithShape="0">
              <a:srgbClr val="1E293B">
                <a:alpha val="7000"/>
              </a:srgbClr>
            </a:outerShdw>
          </a:effectLst>
        </p:spPr>
        <p:txBody>
          <a:bodyPr/>
          <a:lstStyle/>
          <a:p>
            <a:endParaRPr lang="en-FI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335024"/>
            <a:ext cx="438912" cy="4389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10972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Streaming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960120" y="146304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start streaming in within about a minute. Gemini explanations load in as they're ready — no page refresh, nothing blocking.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617720" y="1005840"/>
            <a:ext cx="4114800" cy="1170432"/>
          </a:xfrm>
          <a:prstGeom prst="rect">
            <a:avLst/>
          </a:prstGeom>
          <a:solidFill>
            <a:srgbClr val="1E293B"/>
          </a:solidFill>
          <a:ln w="12700">
            <a:solidFill>
              <a:srgbClr val="E8F4FD"/>
            </a:solidFill>
            <a:prstDash val="solid"/>
          </a:ln>
          <a:effectLst>
            <a:outerShdw blurRad="50800" dist="25400" dir="8100000" algn="bl" rotWithShape="0">
              <a:srgbClr val="1E293B">
                <a:alpha val="7000"/>
              </a:srgbClr>
            </a:outerShdw>
          </a:effectLst>
        </p:spPr>
        <p:txBody>
          <a:bodyPr/>
          <a:lstStyle/>
          <a:p>
            <a:endParaRPr lang="en-FI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1335024"/>
            <a:ext cx="438912" cy="43891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303520" y="10972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Role Filter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5303520" y="146304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Searches match on role — 'welder' returns welders, full stop. Getting no results is better than getting the wrong ones.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274320" y="2304288"/>
            <a:ext cx="4114800" cy="1170432"/>
          </a:xfrm>
          <a:prstGeom prst="rect">
            <a:avLst/>
          </a:prstGeom>
          <a:solidFill>
            <a:srgbClr val="1E293B"/>
          </a:solidFill>
          <a:ln w="12700">
            <a:solidFill>
              <a:srgbClr val="E8F4FD"/>
            </a:solidFill>
            <a:prstDash val="solid"/>
          </a:ln>
          <a:effectLst>
            <a:outerShdw blurRad="50800" dist="25400" dir="8100000" algn="bl" rotWithShape="0">
              <a:srgbClr val="1E293B">
                <a:alpha val="7000"/>
              </a:srgbClr>
            </a:outerShdw>
          </a:effectLst>
        </p:spPr>
        <p:txBody>
          <a:bodyPr/>
          <a:lstStyle/>
          <a:p>
            <a:endParaRPr lang="en-FI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2633472"/>
            <a:ext cx="438912" cy="43891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60120" y="239572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Enrichment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960120" y="2761488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automatically factors in things like required education and licenses for the role, so you don't have to spell it out.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4617720" y="2304288"/>
            <a:ext cx="4114800" cy="1170432"/>
          </a:xfrm>
          <a:prstGeom prst="rect">
            <a:avLst/>
          </a:prstGeom>
          <a:solidFill>
            <a:srgbClr val="1E293B"/>
          </a:solidFill>
          <a:ln w="12700">
            <a:solidFill>
              <a:srgbClr val="E8F4FD"/>
            </a:solidFill>
            <a:prstDash val="solid"/>
          </a:ln>
          <a:effectLst>
            <a:outerShdw blurRad="50800" dist="25400" dir="8100000" algn="bl" rotWithShape="0">
              <a:srgbClr val="1E293B">
                <a:alpha val="7000"/>
              </a:srgbClr>
            </a:outerShdw>
          </a:effectLst>
        </p:spPr>
        <p:txBody>
          <a:bodyPr/>
          <a:lstStyle/>
          <a:p>
            <a:endParaRPr lang="en-FI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0" y="2633472"/>
            <a:ext cx="438912" cy="43891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303520" y="239572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Gate Validation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5303520" y="2761488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your query doesn't mention a role or industry, the search won't run. Vague queries get stopped before they waste anyone's time.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274320" y="3602736"/>
            <a:ext cx="4114800" cy="1170432"/>
          </a:xfrm>
          <a:prstGeom prst="rect">
            <a:avLst/>
          </a:prstGeom>
          <a:solidFill>
            <a:srgbClr val="1E293B"/>
          </a:solidFill>
          <a:ln w="12700">
            <a:solidFill>
              <a:srgbClr val="E8F4FD"/>
            </a:solidFill>
            <a:prstDash val="solid"/>
          </a:ln>
          <a:effectLst>
            <a:outerShdw blurRad="50800" dist="25400" dir="8100000" algn="bl" rotWithShape="0">
              <a:srgbClr val="1E293B">
                <a:alpha val="7000"/>
              </a:srgbClr>
            </a:outerShdw>
          </a:effectLst>
        </p:spPr>
        <p:txBody>
          <a:bodyPr/>
          <a:lstStyle/>
          <a:p>
            <a:endParaRPr lang="en-FI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480" y="3931920"/>
            <a:ext cx="438912" cy="43891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960120" y="369417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Experience-First Rank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960120" y="4059936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are ranked by experience first, then by how well they match the query. The most qualified candidates come up top.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4617720" y="3602736"/>
            <a:ext cx="4114800" cy="1170432"/>
          </a:xfrm>
          <a:prstGeom prst="rect">
            <a:avLst/>
          </a:prstGeom>
          <a:solidFill>
            <a:srgbClr val="1E293B"/>
          </a:solidFill>
          <a:ln w="12700">
            <a:solidFill>
              <a:srgbClr val="E8F4FD"/>
            </a:solidFill>
            <a:prstDash val="solid"/>
          </a:ln>
          <a:effectLst>
            <a:outerShdw blurRad="50800" dist="25400" dir="8100000" algn="bl" rotWithShape="0">
              <a:srgbClr val="1E293B">
                <a:alpha val="7000"/>
              </a:srgbClr>
            </a:outerShdw>
          </a:effectLst>
        </p:spPr>
        <p:txBody>
          <a:bodyPr/>
          <a:lstStyle/>
          <a:p>
            <a:endParaRPr lang="en-FI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54880" y="3931920"/>
            <a:ext cx="438912" cy="438912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5303520" y="369417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Compose Links</a:t>
            </a:r>
            <a:endParaRPr lang="en-US" sz="1300" dirty="0"/>
          </a:p>
        </p:txBody>
      </p:sp>
      <p:sp>
        <p:nvSpPr>
          <p:cNvPr id="26" name="Text 18"/>
          <p:cNvSpPr/>
          <p:nvPr/>
        </p:nvSpPr>
        <p:spPr>
          <a:xfrm>
            <a:off x="5303520" y="4059936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result card has a one-click link that opens Gmail with the candidate's name, role, and a ready-to-send invite template.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74320" y="960120"/>
            <a:ext cx="1920240" cy="3474720"/>
          </a:xfrm>
          <a:prstGeom prst="rect">
            <a:avLst/>
          </a:prstGeom>
          <a:solidFill>
            <a:srgbClr val="F0F6FF"/>
          </a:solidFill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1920240" cy="43891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5" name="Text 3"/>
          <p:cNvSpPr/>
          <p:nvPr/>
        </p:nvSpPr>
        <p:spPr>
          <a:xfrm>
            <a:off x="274320" y="96012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84048" y="1536192"/>
            <a:ext cx="1700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React UI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84048" y="2011680"/>
            <a:ext cx="1700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WaveRecorder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4048" y="2487168"/>
            <a:ext cx="1700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MUI Cards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60320" y="960120"/>
            <a:ext cx="1920240" cy="3474720"/>
          </a:xfrm>
          <a:prstGeom prst="rect">
            <a:avLst/>
          </a:prstGeom>
          <a:solidFill>
            <a:srgbClr val="F0F6FF"/>
          </a:solidFill>
          <a:ln w="254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10" name="Shape 8"/>
          <p:cNvSpPr/>
          <p:nvPr/>
        </p:nvSpPr>
        <p:spPr>
          <a:xfrm>
            <a:off x="2560320" y="960120"/>
            <a:ext cx="1920240" cy="43891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11" name="Text 9"/>
          <p:cNvSpPr/>
          <p:nvPr/>
        </p:nvSpPr>
        <p:spPr>
          <a:xfrm>
            <a:off x="2560320" y="96012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70048" y="1536192"/>
            <a:ext cx="1700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FastAPI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70048" y="2011680"/>
            <a:ext cx="1700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/voice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70048" y="2487168"/>
            <a:ext cx="1700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/search/stream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46320" y="960120"/>
            <a:ext cx="1920240" cy="3474720"/>
          </a:xfrm>
          <a:prstGeom prst="rect">
            <a:avLst/>
          </a:prstGeom>
          <a:solidFill>
            <a:srgbClr val="F0F6FF"/>
          </a:solidFill>
          <a:ln w="254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16" name="Shape 14"/>
          <p:cNvSpPr/>
          <p:nvPr/>
        </p:nvSpPr>
        <p:spPr>
          <a:xfrm>
            <a:off x="4846320" y="960120"/>
            <a:ext cx="1920240" cy="43891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17" name="Text 15"/>
          <p:cNvSpPr/>
          <p:nvPr/>
        </p:nvSpPr>
        <p:spPr>
          <a:xfrm>
            <a:off x="4846320" y="96012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Layer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56048" y="1536192"/>
            <a:ext cx="1700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Whisper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56048" y="2011680"/>
            <a:ext cx="1700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Jina v3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56048" y="2487168"/>
            <a:ext cx="1700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Gemini Flash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132320" y="960120"/>
            <a:ext cx="1920240" cy="3474720"/>
          </a:xfrm>
          <a:prstGeom prst="rect">
            <a:avLst/>
          </a:prstGeom>
          <a:solidFill>
            <a:srgbClr val="F0F6FF"/>
          </a:solidFill>
          <a:ln w="25400">
            <a:solidFill>
              <a:srgbClr val="0A7A3D"/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22" name="Shape 20"/>
          <p:cNvSpPr/>
          <p:nvPr/>
        </p:nvSpPr>
        <p:spPr>
          <a:xfrm>
            <a:off x="7132320" y="960120"/>
            <a:ext cx="1920240" cy="438912"/>
          </a:xfrm>
          <a:prstGeom prst="rect">
            <a:avLst/>
          </a:prstGeom>
          <a:solidFill>
            <a:srgbClr val="0A7A3D"/>
          </a:solidFill>
          <a:ln w="12700">
            <a:solidFill>
              <a:srgbClr val="0A7A3D"/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23" name="Text 21"/>
          <p:cNvSpPr/>
          <p:nvPr/>
        </p:nvSpPr>
        <p:spPr>
          <a:xfrm>
            <a:off x="7132320" y="96012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242048" y="1536192"/>
            <a:ext cx="1700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Qdrant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242048" y="2011680"/>
            <a:ext cx="1700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candidates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242048" y="2487168"/>
            <a:ext cx="1700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prof. standards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194560" y="2697480"/>
            <a:ext cx="365760" cy="0"/>
          </a:xfrm>
          <a:prstGeom prst="line">
            <a:avLst/>
          </a:prstGeom>
          <a:noFill/>
          <a:ln w="19050">
            <a:solidFill>
              <a:srgbClr val="4A7FA5"/>
            </a:solidFill>
            <a:prstDash val="dash"/>
          </a:ln>
        </p:spPr>
        <p:txBody>
          <a:bodyPr/>
          <a:lstStyle/>
          <a:p>
            <a:endParaRPr lang="en-FI"/>
          </a:p>
        </p:txBody>
      </p:sp>
      <p:sp>
        <p:nvSpPr>
          <p:cNvPr id="28" name="Shape 26"/>
          <p:cNvSpPr/>
          <p:nvPr/>
        </p:nvSpPr>
        <p:spPr>
          <a:xfrm>
            <a:off x="4480560" y="2697480"/>
            <a:ext cx="365760" cy="0"/>
          </a:xfrm>
          <a:prstGeom prst="line">
            <a:avLst/>
          </a:prstGeom>
          <a:noFill/>
          <a:ln w="19050">
            <a:solidFill>
              <a:srgbClr val="4A7FA5"/>
            </a:solidFill>
            <a:prstDash val="dash"/>
          </a:ln>
        </p:spPr>
        <p:txBody>
          <a:bodyPr/>
          <a:lstStyle/>
          <a:p>
            <a:endParaRPr lang="en-FI"/>
          </a:p>
        </p:txBody>
      </p:sp>
      <p:sp>
        <p:nvSpPr>
          <p:cNvPr id="29" name="Shape 27"/>
          <p:cNvSpPr/>
          <p:nvPr/>
        </p:nvSpPr>
        <p:spPr>
          <a:xfrm>
            <a:off x="6766560" y="2697480"/>
            <a:ext cx="365760" cy="0"/>
          </a:xfrm>
          <a:prstGeom prst="line">
            <a:avLst/>
          </a:prstGeom>
          <a:noFill/>
          <a:ln w="19050">
            <a:solidFill>
              <a:srgbClr val="4A7FA5"/>
            </a:solidFill>
            <a:prstDash val="dash"/>
          </a:ln>
        </p:spPr>
        <p:txBody>
          <a:bodyPr/>
          <a:lstStyle/>
          <a:p>
            <a:endParaRPr lang="en-FI"/>
          </a:p>
        </p:txBody>
      </p:sp>
      <p:sp>
        <p:nvSpPr>
          <p:cNvPr id="30" name="Shape 28"/>
          <p:cNvSpPr/>
          <p:nvPr/>
        </p:nvSpPr>
        <p:spPr>
          <a:xfrm>
            <a:off x="2560320" y="4572000"/>
            <a:ext cx="4023360" cy="384048"/>
          </a:xfrm>
          <a:prstGeom prst="rect">
            <a:avLst/>
          </a:prstGeom>
          <a:solidFill>
            <a:srgbClr val="4A1942"/>
          </a:solidFill>
          <a:ln w="12700">
            <a:solidFill>
              <a:srgbClr val="B748C7"/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31" name="Text 29"/>
          <p:cNvSpPr/>
          <p:nvPr/>
        </p:nvSpPr>
        <p:spPr>
          <a:xfrm>
            <a:off x="2560320" y="4572000"/>
            <a:ext cx="4023360" cy="38404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Workflow  →  Slack  |  Email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520440" y="4434840"/>
            <a:ext cx="0" cy="137160"/>
          </a:xfrm>
          <a:prstGeom prst="line">
            <a:avLst/>
          </a:prstGeom>
          <a:noFill/>
          <a:ln w="19050">
            <a:solidFill>
              <a:srgbClr val="4A7FA5"/>
            </a:solidFill>
            <a:prstDash val="dash"/>
          </a:ln>
        </p:spPr>
        <p:txBody>
          <a:bodyPr/>
          <a:lstStyle/>
          <a:p>
            <a:endParaRPr lang="en-FI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— What You'll See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20040" y="1051560"/>
            <a:ext cx="4114800" cy="1115568"/>
          </a:xfrm>
          <a:prstGeom prst="rect">
            <a:avLst/>
          </a:prstGeom>
          <a:solidFill>
            <a:srgbClr val="1E293B"/>
          </a:solidFill>
          <a:ln w="12700">
            <a:solidFill>
              <a:srgbClr val="E8F4FD"/>
            </a:solidFill>
            <a:prstDash val="solid"/>
          </a:ln>
          <a:effectLst>
            <a:outerShdw blurRad="50800" dist="25400" dir="81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FI"/>
          </a:p>
        </p:txBody>
      </p:sp>
      <p:sp>
        <p:nvSpPr>
          <p:cNvPr id="4" name="Shape 2"/>
          <p:cNvSpPr/>
          <p:nvPr/>
        </p:nvSpPr>
        <p:spPr>
          <a:xfrm>
            <a:off x="429768" y="1325880"/>
            <a:ext cx="384048" cy="384048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5" name="Text 3"/>
          <p:cNvSpPr/>
          <p:nvPr/>
        </p:nvSpPr>
        <p:spPr>
          <a:xfrm>
            <a:off x="429768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14300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channel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150876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where you want your results — Slack or email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2313432"/>
            <a:ext cx="4114800" cy="1115568"/>
          </a:xfrm>
          <a:prstGeom prst="rect">
            <a:avLst/>
          </a:prstGeom>
          <a:solidFill>
            <a:srgbClr val="1E293B"/>
          </a:solidFill>
          <a:ln w="12700">
            <a:solidFill>
              <a:srgbClr val="E8F4FD"/>
            </a:solidFill>
            <a:prstDash val="solid"/>
          </a:ln>
          <a:effectLst>
            <a:outerShdw blurRad="50800" dist="25400" dir="81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FI"/>
          </a:p>
        </p:txBody>
      </p:sp>
      <p:sp>
        <p:nvSpPr>
          <p:cNvPr id="9" name="Shape 7"/>
          <p:cNvSpPr/>
          <p:nvPr/>
        </p:nvSpPr>
        <p:spPr>
          <a:xfrm>
            <a:off x="429768" y="2587752"/>
            <a:ext cx="384048" cy="384048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10" name="Text 8"/>
          <p:cNvSpPr/>
          <p:nvPr/>
        </p:nvSpPr>
        <p:spPr>
          <a:xfrm>
            <a:off x="429768" y="2587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240487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command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2770632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something like 'software developers within 20 km' or 'nurses with salary between 2500 and 3500'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3575304"/>
            <a:ext cx="4114800" cy="1115568"/>
          </a:xfrm>
          <a:prstGeom prst="rect">
            <a:avLst/>
          </a:prstGeom>
          <a:solidFill>
            <a:srgbClr val="1E293B"/>
          </a:solidFill>
          <a:ln w="12700">
            <a:solidFill>
              <a:srgbClr val="E8F4FD"/>
            </a:solidFill>
            <a:prstDash val="solid"/>
          </a:ln>
          <a:effectLst>
            <a:outerShdw blurRad="50800" dist="25400" dir="81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FI"/>
          </a:p>
        </p:txBody>
      </p:sp>
      <p:sp>
        <p:nvSpPr>
          <p:cNvPr id="14" name="Shape 12"/>
          <p:cNvSpPr/>
          <p:nvPr/>
        </p:nvSpPr>
        <p:spPr>
          <a:xfrm>
            <a:off x="429768" y="3849624"/>
            <a:ext cx="384048" cy="384048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15" name="Text 13"/>
          <p:cNvSpPr/>
          <p:nvPr/>
        </p:nvSpPr>
        <p:spPr>
          <a:xfrm>
            <a:off x="429768" y="3849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" y="3666744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14400" y="4032504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words appear on screen as Whisper transcribes them. If the query's too vague, it gets blocked right away.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09160" y="1051560"/>
            <a:ext cx="4114800" cy="1115568"/>
          </a:xfrm>
          <a:prstGeom prst="rect">
            <a:avLst/>
          </a:prstGeom>
          <a:solidFill>
            <a:srgbClr val="1E293B"/>
          </a:solidFill>
          <a:ln w="12700">
            <a:solidFill>
              <a:srgbClr val="E8F4FD"/>
            </a:solidFill>
            <a:prstDash val="solid"/>
          </a:ln>
          <a:effectLst>
            <a:outerShdw blurRad="50800" dist="25400" dir="81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FI"/>
          </a:p>
        </p:txBody>
      </p:sp>
      <p:sp>
        <p:nvSpPr>
          <p:cNvPr id="19" name="Shape 17"/>
          <p:cNvSpPr/>
          <p:nvPr/>
        </p:nvSpPr>
        <p:spPr>
          <a:xfrm>
            <a:off x="4818888" y="1325880"/>
            <a:ext cx="384048" cy="384048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20" name="Text 18"/>
          <p:cNvSpPr/>
          <p:nvPr/>
        </p:nvSpPr>
        <p:spPr>
          <a:xfrm>
            <a:off x="4818888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303520" y="114300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 stream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303520" y="150876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top 5 matches stream in within about a minute, with experience, salary, location, skills, and licenses all on the card.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09160" y="2313432"/>
            <a:ext cx="4114800" cy="1115568"/>
          </a:xfrm>
          <a:prstGeom prst="rect">
            <a:avLst/>
          </a:prstGeom>
          <a:solidFill>
            <a:srgbClr val="1E293B"/>
          </a:solidFill>
          <a:ln w="12700">
            <a:solidFill>
              <a:srgbClr val="E8F4FD"/>
            </a:solidFill>
            <a:prstDash val="solid"/>
          </a:ln>
          <a:effectLst>
            <a:outerShdw blurRad="50800" dist="25400" dir="81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FI"/>
          </a:p>
        </p:txBody>
      </p:sp>
      <p:sp>
        <p:nvSpPr>
          <p:cNvPr id="24" name="Shape 22"/>
          <p:cNvSpPr/>
          <p:nvPr/>
        </p:nvSpPr>
        <p:spPr>
          <a:xfrm>
            <a:off x="4818888" y="2587752"/>
            <a:ext cx="384048" cy="384048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25" name="Text 23"/>
          <p:cNvSpPr/>
          <p:nvPr/>
        </p:nvSpPr>
        <p:spPr>
          <a:xfrm>
            <a:off x="4818888" y="2587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303520" y="240487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analysis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303520" y="2770632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writes a quick explanation for why each candidate matched your search. You'll see placeholders while it's thinking.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09160" y="3575304"/>
            <a:ext cx="4114800" cy="1115568"/>
          </a:xfrm>
          <a:prstGeom prst="rect">
            <a:avLst/>
          </a:prstGeom>
          <a:solidFill>
            <a:srgbClr val="1E293B"/>
          </a:solidFill>
          <a:ln w="12700">
            <a:solidFill>
              <a:srgbClr val="E8F4FD"/>
            </a:solidFill>
            <a:prstDash val="solid"/>
          </a:ln>
          <a:effectLst>
            <a:outerShdw blurRad="50800" dist="25400" dir="81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FI"/>
          </a:p>
        </p:txBody>
      </p:sp>
      <p:sp>
        <p:nvSpPr>
          <p:cNvPr id="29" name="Shape 27"/>
          <p:cNvSpPr/>
          <p:nvPr/>
        </p:nvSpPr>
        <p:spPr>
          <a:xfrm>
            <a:off x="4818888" y="3849624"/>
            <a:ext cx="384048" cy="384048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30" name="Text 28"/>
          <p:cNvSpPr/>
          <p:nvPr/>
        </p:nvSpPr>
        <p:spPr>
          <a:xfrm>
            <a:off x="4818888" y="3849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303520" y="3666744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303520" y="4032504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shortlist goes to your Slack channel or inbox automatically. It runs in the background so the UI stays snappy.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Limitations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74320" y="1005840"/>
            <a:ext cx="8595360" cy="877824"/>
          </a:xfrm>
          <a:prstGeom prst="rect">
            <a:avLst/>
          </a:prstGeom>
          <a:solidFill>
            <a:srgbClr val="1E293B"/>
          </a:solidFill>
          <a:ln w="19050">
            <a:solidFill>
              <a:srgbClr val="F4A261"/>
            </a:solidFill>
            <a:prstDash val="solid"/>
          </a:ln>
          <a:effectLst>
            <a:outerShdw blurRad="38100" dist="12700" dir="8100000" algn="bl" rotWithShape="0">
              <a:srgbClr val="1E293B">
                <a:alpha val="6000"/>
              </a:srgbClr>
            </a:outerShdw>
          </a:effectLst>
        </p:spPr>
        <p:txBody>
          <a:bodyPr/>
          <a:lstStyle/>
          <a:p>
            <a:endParaRPr lang="en-FI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365760" cy="87782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5" name="Text 3"/>
          <p:cNvSpPr/>
          <p:nvPr/>
        </p:nvSpPr>
        <p:spPr>
          <a:xfrm>
            <a:off x="274320" y="1005840"/>
            <a:ext cx="3657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1078992"/>
            <a:ext cx="7909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seniority distinction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1417320"/>
            <a:ext cx="7909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'Senior IT developer' and 'IT developer' return the same results right now — seniority words are ignored. The fix is a seniority parser tied to minimum experience years.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4320" y="1993392"/>
            <a:ext cx="8595360" cy="877824"/>
          </a:xfrm>
          <a:prstGeom prst="rect">
            <a:avLst/>
          </a:prstGeom>
          <a:solidFill>
            <a:srgbClr val="1E293B"/>
          </a:solidFill>
          <a:ln w="19050">
            <a:solidFill>
              <a:srgbClr val="F4A261"/>
            </a:solidFill>
            <a:prstDash val="solid"/>
          </a:ln>
          <a:effectLst>
            <a:outerShdw blurRad="38100" dist="12700" dir="8100000" algn="bl" rotWithShape="0">
              <a:srgbClr val="1E293B">
                <a:alpha val="6000"/>
              </a:srgbClr>
            </a:outerShdw>
          </a:effectLst>
        </p:spPr>
        <p:txBody>
          <a:bodyPr/>
          <a:lstStyle/>
          <a:p>
            <a:endParaRPr lang="en-FI"/>
          </a:p>
        </p:txBody>
      </p:sp>
      <p:sp>
        <p:nvSpPr>
          <p:cNvPr id="9" name="Shape 7"/>
          <p:cNvSpPr/>
          <p:nvPr/>
        </p:nvSpPr>
        <p:spPr>
          <a:xfrm>
            <a:off x="274320" y="1993392"/>
            <a:ext cx="365760" cy="87782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10" name="Text 8"/>
          <p:cNvSpPr/>
          <p:nvPr/>
        </p:nvSpPr>
        <p:spPr>
          <a:xfrm>
            <a:off x="274320" y="1993392"/>
            <a:ext cx="3657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77240" y="2066544"/>
            <a:ext cx="7909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search not supported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2404872"/>
            <a:ext cx="7909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search is locked to a fixed point near Lahti. Saying 'nurses in Helsinki' won't do anything — only distance radius works for now. Fix is to geocode city names dynamically.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2980944"/>
            <a:ext cx="8595360" cy="877824"/>
          </a:xfrm>
          <a:prstGeom prst="rect">
            <a:avLst/>
          </a:prstGeom>
          <a:solidFill>
            <a:srgbClr val="1E293B"/>
          </a:solidFill>
          <a:ln w="19050">
            <a:solidFill>
              <a:srgbClr val="F4A261"/>
            </a:solidFill>
            <a:prstDash val="solid"/>
          </a:ln>
          <a:effectLst>
            <a:outerShdw blurRad="38100" dist="12700" dir="8100000" algn="bl" rotWithShape="0">
              <a:srgbClr val="1E293B">
                <a:alpha val="6000"/>
              </a:srgbClr>
            </a:outerShdw>
          </a:effectLst>
        </p:spPr>
        <p:txBody>
          <a:bodyPr/>
          <a:lstStyle/>
          <a:p>
            <a:endParaRPr lang="en-FI"/>
          </a:p>
        </p:txBody>
      </p:sp>
      <p:sp>
        <p:nvSpPr>
          <p:cNvPr id="14" name="Shape 12"/>
          <p:cNvSpPr/>
          <p:nvPr/>
        </p:nvSpPr>
        <p:spPr>
          <a:xfrm>
            <a:off x="274320" y="2980944"/>
            <a:ext cx="365760" cy="87782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15" name="Text 13"/>
          <p:cNvSpPr/>
          <p:nvPr/>
        </p:nvSpPr>
        <p:spPr>
          <a:xfrm>
            <a:off x="274320" y="2980944"/>
            <a:ext cx="3657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77240" y="3054096"/>
            <a:ext cx="7909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authentication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7240" y="3392424"/>
            <a:ext cx="7909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locked down yet — no API keys, no sessions, no user roles. This is a dev build only.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" y="3968496"/>
            <a:ext cx="8595360" cy="877824"/>
          </a:xfrm>
          <a:prstGeom prst="rect">
            <a:avLst/>
          </a:prstGeom>
          <a:solidFill>
            <a:srgbClr val="1E293B"/>
          </a:solidFill>
          <a:ln w="19050">
            <a:solidFill>
              <a:srgbClr val="F4A261"/>
            </a:solidFill>
            <a:prstDash val="solid"/>
          </a:ln>
          <a:effectLst>
            <a:outerShdw blurRad="38100" dist="12700" dir="8100000" algn="bl" rotWithShape="0">
              <a:srgbClr val="1E293B">
                <a:alpha val="6000"/>
              </a:srgbClr>
            </a:outerShdw>
          </a:effectLst>
        </p:spPr>
        <p:txBody>
          <a:bodyPr/>
          <a:lstStyle/>
          <a:p>
            <a:endParaRPr lang="en-FI"/>
          </a:p>
        </p:txBody>
      </p:sp>
      <p:sp>
        <p:nvSpPr>
          <p:cNvPr id="19" name="Shape 17"/>
          <p:cNvSpPr/>
          <p:nvPr/>
        </p:nvSpPr>
        <p:spPr>
          <a:xfrm>
            <a:off x="274320" y="3968496"/>
            <a:ext cx="365760" cy="87782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20" name="Text 18"/>
          <p:cNvSpPr/>
          <p:nvPr/>
        </p:nvSpPr>
        <p:spPr>
          <a:xfrm>
            <a:off x="274320" y="3968496"/>
            <a:ext cx="3657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77240" y="4041648"/>
            <a:ext cx="7909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candidate data only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77240" y="4379976"/>
            <a:ext cx="7909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candidate data is synthetic Finnish profiles for now. Hooking up real data hasn't been built yet.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3" name="Text 1"/>
          <p:cNvSpPr/>
          <p:nvPr/>
        </p:nvSpPr>
        <p:spPr>
          <a:xfrm>
            <a:off x="411480" y="12801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502</TotalTime>
  <Words>605</Words>
  <Application>Microsoft Office PowerPoint</Application>
  <PresentationFormat>On-screen Show (16:9)</PresentationFormat>
  <Paragraphs>103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Candidate Voice Search — Live Demo</dc:title>
  <dc:subject>PptxGenJS Presentation</dc:subject>
  <dc:creator>PptxGenJS</dc:creator>
  <cp:lastModifiedBy>Ngoc Sang Ngo</cp:lastModifiedBy>
  <cp:revision>4</cp:revision>
  <dcterms:created xsi:type="dcterms:W3CDTF">2026-04-26T18:35:25Z</dcterms:created>
  <dcterms:modified xsi:type="dcterms:W3CDTF">2026-04-27T14:09:34Z</dcterms:modified>
</cp:coreProperties>
</file>