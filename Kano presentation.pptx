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88" r:id="rId5"/>
    <p:sldId id="291" r:id="rId6"/>
    <p:sldId id="260" r:id="rId7"/>
    <p:sldId id="281" r:id="rId8"/>
    <p:sldId id="277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CA527-F925-414F-B4F4-8F4244CDDC80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7E2AA-278D-0B48-A5DE-00B1FC5BDA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55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0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7E2AA-278D-0B48-A5DE-00B1FC5BDAF9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>
            <a:extLst>
              <a:ext uri="{FF2B5EF4-FFF2-40B4-BE49-F238E27FC236}">
                <a16:creationId xmlns:a16="http://schemas.microsoft.com/office/drawing/2014/main" id="{D56268A4-B555-72BE-6160-318763ECA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D44DBA-D665-923B-A38C-C68A9C03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38">
            <a:extLst>
              <a:ext uri="{FF2B5EF4-FFF2-40B4-BE49-F238E27FC236}">
                <a16:creationId xmlns:a16="http://schemas.microsoft.com/office/drawing/2014/main" id="{31550E6E-10D6-E75A-F6B1-8800DAC2C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3038" y="1457865"/>
            <a:ext cx="3200400" cy="4580626"/>
          </a:xfrm>
        </p:spPr>
        <p:txBody>
          <a:bodyPr anchor="t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6287" y="1457864"/>
            <a:ext cx="4986068" cy="4580627"/>
          </a:xfrm>
        </p:spPr>
        <p:txBody>
          <a:bodyPr tIns="4572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  <a:defRPr sz="2400"/>
            </a:lvl1pPr>
            <a:lvl2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2000"/>
            </a:lvl2pPr>
            <a:lvl3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1800"/>
            </a:lvl3pPr>
            <a:lvl4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1600"/>
            </a:lvl4pPr>
            <a:lvl5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61F88592-24FD-96EC-ADB3-C0B7682D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8259" y="798653"/>
            <a:ext cx="5166167" cy="5289630"/>
          </a:xfrm>
          <a:solidFill>
            <a:schemeClr val="bg1">
              <a:alpha val="95000"/>
            </a:schemeClr>
          </a:solidFill>
        </p:spPr>
        <p:txBody>
          <a:bodyPr lIns="274320" rIns="274320"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4424" y="787077"/>
            <a:ext cx="5166167" cy="5289631"/>
          </a:xfrm>
          <a:solidFill>
            <a:schemeClr val="bg1">
              <a:alpha val="95000"/>
            </a:schemeClr>
          </a:solidFill>
        </p:spPr>
        <p:txBody>
          <a:bodyPr>
            <a:noAutofit/>
          </a:bodyPr>
          <a:lstStyle>
            <a:lvl1pPr marL="342900" indent="-342900" algn="ctr">
              <a:buFont typeface="Arial" panose="020B0604020202020204" pitchFamily="34" charset="0"/>
              <a:buChar char="•"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3">
            <a:extLst>
              <a:ext uri="{FF2B5EF4-FFF2-40B4-BE49-F238E27FC236}">
                <a16:creationId xmlns:a16="http://schemas.microsoft.com/office/drawing/2014/main" id="{BD017017-3234-8C24-B9FC-80FB1120D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C226FA8-C264-7189-EEA0-526400907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6135" y="1124887"/>
            <a:ext cx="4480560" cy="2352356"/>
          </a:xfrm>
        </p:spPr>
        <p:txBody>
          <a:bodyPr anchor="b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6135" y="3571197"/>
            <a:ext cx="4476967" cy="2123547"/>
          </a:xfrm>
        </p:spPr>
        <p:txBody>
          <a:bodyPr>
            <a:no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29545" y="1148037"/>
            <a:ext cx="4365199" cy="454670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17">
            <a:extLst>
              <a:ext uri="{FF2B5EF4-FFF2-40B4-BE49-F238E27FC236}">
                <a16:creationId xmlns:a16="http://schemas.microsoft.com/office/drawing/2014/main" id="{28B211FD-99D2-B373-669F-6E0F8E5B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4079EDA-1B98-E3C1-23AD-7FB6F39F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6598" y="995425"/>
            <a:ext cx="8958805" cy="1077230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6BDAEBE-3A0C-BBCD-A1F0-E1F1E07000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616599" y="2257061"/>
            <a:ext cx="8958804" cy="3541853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5">
            <a:extLst>
              <a:ext uri="{FF2B5EF4-FFF2-40B4-BE49-F238E27FC236}">
                <a16:creationId xmlns:a16="http://schemas.microsoft.com/office/drawing/2014/main" id="{236F3DDC-7FF8-F6A3-16EA-A01E7F795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Title 33">
            <a:extLst>
              <a:ext uri="{FF2B5EF4-FFF2-40B4-BE49-F238E27FC236}">
                <a16:creationId xmlns:a16="http://schemas.microsoft.com/office/drawing/2014/main" id="{E728EBB2-9164-AC06-6682-9505D88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5924" y="777240"/>
            <a:ext cx="6115497" cy="5303520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937" y="879674"/>
            <a:ext cx="5377406" cy="2550005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3BA3AA6-E309-C0C7-B2C6-3705384B7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7638" y="3576900"/>
            <a:ext cx="4126635" cy="223361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5">
            <a:extLst>
              <a:ext uri="{FF2B5EF4-FFF2-40B4-BE49-F238E27FC236}">
                <a16:creationId xmlns:a16="http://schemas.microsoft.com/office/drawing/2014/main" id="{540E5FCC-3981-FB51-F0ED-B8BAB5C4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CE2C9E-7BC3-0EB6-EBE4-26EE33A1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57" y="891251"/>
            <a:ext cx="9653286" cy="1158254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CB36301-48E6-AF64-5055-0CCA79474EA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400540" y="2257062"/>
            <a:ext cx="4062711" cy="3541853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F973906-E48D-CA3F-3E96-205D2E688D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588311" y="2257061"/>
            <a:ext cx="4203151" cy="3541853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44">
            <a:extLst>
              <a:ext uri="{FF2B5EF4-FFF2-40B4-BE49-F238E27FC236}">
                <a16:creationId xmlns:a16="http://schemas.microsoft.com/office/drawing/2014/main" id="{07AB38AA-85DC-3DF3-4ED4-B78FB670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2DD44F-3200-BF06-94F9-C6A07EA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361" y="777240"/>
            <a:ext cx="10007278" cy="1283843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7029" y="2261313"/>
            <a:ext cx="3275746" cy="36533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2AA9CA0-D45C-FE27-D4E4-DD219364E4F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150734" y="2261313"/>
            <a:ext cx="5594236" cy="365335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F1219773-33FA-E4F9-4EAE-0764613F6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817C37-9292-1CF3-6529-DEF717427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1275" y="1134320"/>
            <a:ext cx="4803494" cy="1956122"/>
          </a:xfrm>
        </p:spPr>
        <p:txBody>
          <a:bodyPr anchor="b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1275" y="3418271"/>
            <a:ext cx="4803494" cy="2305409"/>
          </a:xfrm>
        </p:spPr>
        <p:txBody>
          <a:bodyPr>
            <a:noAutofit/>
          </a:bodyPr>
          <a:lstStyle>
            <a:lvl1pPr marL="0" indent="0" algn="l">
              <a:spcAft>
                <a:spcPts val="1000"/>
              </a:spcAft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5D7B0DF-23EB-406B-9FAA-0182626A91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8563" y="1146638"/>
            <a:ext cx="4389120" cy="4572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64">
            <a:extLst>
              <a:ext uri="{FF2B5EF4-FFF2-40B4-BE49-F238E27FC236}">
                <a16:creationId xmlns:a16="http://schemas.microsoft.com/office/drawing/2014/main" id="{7C62E1FE-8CAE-1FE1-6A91-DFE7F1D8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219"/>
            <a:ext cx="10389243" cy="1424470"/>
          </a:xfrm>
        </p:spPr>
        <p:txBody>
          <a:bodyPr anchor="ctr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779325"/>
            <a:ext cx="3490732" cy="4297680"/>
          </a:xfrm>
        </p:spPr>
        <p:txBody>
          <a:bodyPr tIns="27432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sz="1800"/>
            </a:lvl1pPr>
            <a:lvl2pPr marL="228600" indent="0">
              <a:spcBef>
                <a:spcPts val="1000"/>
              </a:spcBef>
              <a:spcAft>
                <a:spcPts val="1000"/>
              </a:spcAft>
              <a:buNone/>
              <a:defRPr sz="1800"/>
            </a:lvl2pPr>
            <a:lvl3pPr marL="685800" indent="0">
              <a:spcBef>
                <a:spcPts val="1000"/>
              </a:spcBef>
              <a:spcAft>
                <a:spcPts val="1000"/>
              </a:spcAft>
              <a:buNone/>
              <a:defRPr sz="1800"/>
            </a:lvl3pPr>
            <a:lvl4pPr marL="1143000" indent="0">
              <a:spcBef>
                <a:spcPts val="1000"/>
              </a:spcBef>
              <a:spcAft>
                <a:spcPts val="1000"/>
              </a:spcAft>
              <a:buNone/>
              <a:defRPr sz="1800"/>
            </a:lvl4pPr>
            <a:lvl5pPr marL="1600200" indent="0">
              <a:spcBef>
                <a:spcPts val="1000"/>
              </a:spcBef>
              <a:spcAft>
                <a:spcPts val="10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02552" y="1779325"/>
            <a:ext cx="6724891" cy="429768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7">
            <a:extLst>
              <a:ext uri="{FF2B5EF4-FFF2-40B4-BE49-F238E27FC236}">
                <a16:creationId xmlns:a16="http://schemas.microsoft.com/office/drawing/2014/main" id="{32B61A96-5F36-8895-B920-FC12FD76D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74BC39-6D56-474E-28BE-99260516A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070" y="914400"/>
            <a:ext cx="10045861" cy="1146680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23687" y="2288614"/>
            <a:ext cx="5382228" cy="34755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685800">
              <a:spcBef>
                <a:spcPts val="600"/>
              </a:spcBef>
              <a:spcAft>
                <a:spcPts val="600"/>
              </a:spcAft>
              <a:defRPr sz="1800"/>
            </a:lvl2pPr>
            <a:lvl3pPr marL="1143000">
              <a:spcBef>
                <a:spcPts val="600"/>
              </a:spcBef>
              <a:spcAft>
                <a:spcPts val="600"/>
              </a:spcAft>
              <a:defRPr sz="1800"/>
            </a:lvl3pPr>
            <a:lvl4pPr marL="1600200">
              <a:spcBef>
                <a:spcPts val="600"/>
              </a:spcBef>
              <a:spcAft>
                <a:spcPts val="600"/>
              </a:spcAft>
              <a:defRPr sz="1800"/>
            </a:lvl4pPr>
            <a:lvl5pPr marL="20574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51790" y="2288614"/>
            <a:ext cx="3108960" cy="3475578"/>
          </a:xfrm>
        </p:spPr>
        <p:txBody>
          <a:bodyPr tIns="9144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2pPr>
            <a:lvl3pPr marL="685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64">
            <a:extLst>
              <a:ext uri="{FF2B5EF4-FFF2-40B4-BE49-F238E27FC236}">
                <a16:creationId xmlns:a16="http://schemas.microsoft.com/office/drawing/2014/main" id="{55E792AE-CF37-9DD8-2703-49480775F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3629"/>
            <a:ext cx="10515600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14400" y="1779325"/>
            <a:ext cx="10361676" cy="429768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13">
            <a:extLst>
              <a:ext uri="{FF2B5EF4-FFF2-40B4-BE49-F238E27FC236}">
                <a16:creationId xmlns:a16="http://schemas.microsoft.com/office/drawing/2014/main" id="{A1BB4149-7987-3EF4-952D-2271B4DD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B335AD-7A4B-841B-52BC-8FF32D99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99368" y="0"/>
            <a:ext cx="459326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75" y="92597"/>
            <a:ext cx="3905250" cy="3032567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3E19FD-68BB-0F8D-21CF-9E48B80607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3375" y="4004321"/>
            <a:ext cx="3905250" cy="27432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52" r:id="rId6"/>
    <p:sldLayoutId id="2147483662" r:id="rId7"/>
    <p:sldLayoutId id="2147483663" r:id="rId8"/>
    <p:sldLayoutId id="2147483649" r:id="rId9"/>
    <p:sldLayoutId id="2147483666" r:id="rId10"/>
    <p:sldLayoutId id="2147483664" r:id="rId11"/>
    <p:sldLayoutId id="2147483665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19" y="784185"/>
            <a:ext cx="6477195" cy="5289630"/>
          </a:xfrm>
        </p:spPr>
        <p:txBody>
          <a:bodyPr anchor="ctr">
            <a:normAutofit/>
          </a:bodyPr>
          <a:lstStyle/>
          <a:p>
            <a:pPr algn="l"/>
            <a:br>
              <a:rPr lang="en-US" b="1" dirty="0"/>
            </a:br>
            <a:r>
              <a:rPr lang="en-US" b="1" dirty="0"/>
              <a:t>Kano analysis</a:t>
            </a:r>
            <a:br>
              <a:rPr lang="en-US" b="1" dirty="0"/>
            </a:br>
            <a:br>
              <a:rPr lang="en-US" b="1" dirty="0"/>
            </a:br>
            <a:r>
              <a:rPr lang="en-US" sz="2800" b="1" i="1" dirty="0">
                <a:solidFill>
                  <a:schemeClr val="accent6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what users</a:t>
            </a:r>
            <a:br>
              <a:rPr lang="en-US" sz="2800" b="1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800" b="1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</a:t>
            </a:r>
            <a:r>
              <a:rPr lang="en-US" sz="2800" b="1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love, expect &amp; crave</a:t>
            </a:r>
            <a:br>
              <a:rPr lang="en-US" sz="2800" b="1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2800" b="1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2800" b="1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2800" dirty="0"/>
            </a:br>
            <a:br>
              <a:rPr lang="en-US" sz="2800" dirty="0"/>
            </a:br>
            <a:endParaRPr lang="en-US" sz="2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F54D3-C9CD-6290-7A22-C459792DD3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7" b="-1"/>
          <a:stretch>
            <a:fillRect/>
          </a:stretch>
        </p:blipFill>
        <p:spPr>
          <a:xfrm>
            <a:off x="6751514" y="784184"/>
            <a:ext cx="5166167" cy="5289631"/>
          </a:xfrm>
          <a:prstGeom prst="rect">
            <a:avLst/>
          </a:prstGeom>
          <a:noFill/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8896EFF9-3322-0888-F5AC-F47AAADA35A4}"/>
              </a:ext>
            </a:extLst>
          </p:cNvPr>
          <p:cNvSpPr/>
          <p:nvPr/>
        </p:nvSpPr>
        <p:spPr>
          <a:xfrm>
            <a:off x="1645920" y="960120"/>
            <a:ext cx="3502152" cy="411480"/>
          </a:xfrm>
          <a:prstGeom prst="roundRect">
            <a:avLst>
              <a:gd name="adj" fmla="val 44444"/>
            </a:avLst>
          </a:prstGeom>
          <a:solidFill>
            <a:schemeClr val="accent6">
              <a:lumMod val="90000"/>
              <a:lumOff val="10000"/>
            </a:schemeClr>
          </a:solidFill>
          <a:ln w="12700">
            <a:solidFill>
              <a:srgbClr val="6C3FC7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UI DESIGN FRAMEWORK</a:t>
            </a:r>
            <a:endParaRPr lang="en-US" dirty="0"/>
          </a:p>
          <a:p>
            <a:pPr algn="ctr"/>
            <a:endParaRPr lang="en-FI" dirty="0"/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22148A09-3314-E98B-1335-9F0401387A3D}"/>
              </a:ext>
            </a:extLst>
          </p:cNvPr>
          <p:cNvSpPr/>
          <p:nvPr/>
        </p:nvSpPr>
        <p:spPr>
          <a:xfrm>
            <a:off x="2872837" y="51297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>
                    <a:lumMod val="90000"/>
                    <a:lumOff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2D9DAA7C-48BC-781B-3ED9-668C76699130}"/>
              </a:ext>
            </a:extLst>
          </p:cNvPr>
          <p:cNvSpPr/>
          <p:nvPr/>
        </p:nvSpPr>
        <p:spPr>
          <a:xfrm>
            <a:off x="4834128" y="51297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>
                    <a:lumMod val="90000"/>
                    <a:lumOff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2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58C8A1AE-2BBF-C407-ECB2-3E44B7628ADD}"/>
              </a:ext>
            </a:extLst>
          </p:cNvPr>
          <p:cNvSpPr/>
          <p:nvPr/>
        </p:nvSpPr>
        <p:spPr>
          <a:xfrm>
            <a:off x="1005840" y="51297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>
                    <a:lumMod val="90000"/>
                    <a:lumOff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2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5063331-1650-E483-717E-27A7807C8F17}"/>
              </a:ext>
            </a:extLst>
          </p:cNvPr>
          <p:cNvSpPr/>
          <p:nvPr/>
        </p:nvSpPr>
        <p:spPr>
          <a:xfrm>
            <a:off x="804672" y="5157216"/>
            <a:ext cx="201168" cy="20116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87612C-3EFF-B6A1-76D7-AD979363468D}"/>
              </a:ext>
            </a:extLst>
          </p:cNvPr>
          <p:cNvSpPr/>
          <p:nvPr/>
        </p:nvSpPr>
        <p:spPr>
          <a:xfrm>
            <a:off x="2671669" y="5157216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E663B2E1-EAD0-A684-24F3-385623F18506}"/>
              </a:ext>
            </a:extLst>
          </p:cNvPr>
          <p:cNvSpPr/>
          <p:nvPr/>
        </p:nvSpPr>
        <p:spPr>
          <a:xfrm>
            <a:off x="4632960" y="5157216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8302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A78BAD98-8FF2-8EA7-9F79-F92F08DF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458" y="591497"/>
            <a:ext cx="8958805" cy="1077230"/>
          </a:xfrm>
        </p:spPr>
        <p:txBody>
          <a:bodyPr anchor="b">
            <a:normAutofit/>
          </a:bodyPr>
          <a:lstStyle/>
          <a:p>
            <a:r>
              <a:rPr lang="en-GB" dirty="0"/>
              <a:t>Feature types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55E192-2262-C4F8-AFE5-76217FD13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7595"/>
              </p:ext>
            </p:extLst>
          </p:nvPr>
        </p:nvGraphicFramePr>
        <p:xfrm>
          <a:off x="1780075" y="1844775"/>
          <a:ext cx="8714537" cy="354185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26749">
                  <a:extLst>
                    <a:ext uri="{9D8B030D-6E8A-4147-A177-3AD203B41FA5}">
                      <a16:colId xmlns:a16="http://schemas.microsoft.com/office/drawing/2014/main" val="3936134724"/>
                    </a:ext>
                  </a:extLst>
                </a:gridCol>
                <a:gridCol w="6187788">
                  <a:extLst>
                    <a:ext uri="{9D8B030D-6E8A-4147-A177-3AD203B41FA5}">
                      <a16:colId xmlns:a16="http://schemas.microsoft.com/office/drawing/2014/main" val="2868149991"/>
                    </a:ext>
                  </a:extLst>
                </a:gridCol>
              </a:tblGrid>
              <a:tr h="585871">
                <a:tc>
                  <a:txBody>
                    <a:bodyPr/>
                    <a:lstStyle/>
                    <a:p>
                      <a:pPr algn="ctr"/>
                      <a:r>
                        <a:rPr lang="en-US" sz="2600" b="1"/>
                        <a:t>Types</a:t>
                      </a:r>
                      <a:endParaRPr lang="en-US" sz="2600" b="1" i="0">
                        <a:latin typeface="+mn-lt"/>
                      </a:endParaRPr>
                    </a:p>
                  </a:txBody>
                  <a:tcPr marL="133152" marR="133152" marT="66576" marB="6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Attributes</a:t>
                      </a:r>
                      <a:endParaRPr lang="en-US" sz="2600" b="1" i="0" dirty="0">
                        <a:latin typeface="+mn-lt"/>
                      </a:endParaRPr>
                    </a:p>
                  </a:txBody>
                  <a:tcPr marL="133152" marR="133152" marT="66576" marB="66576" anchor="ctr"/>
                </a:tc>
                <a:extLst>
                  <a:ext uri="{0D108BD9-81ED-4DB2-BD59-A6C34878D82A}">
                    <a16:rowId xmlns:a16="http://schemas.microsoft.com/office/drawing/2014/main" val="2286007969"/>
                  </a:ext>
                </a:extLst>
              </a:tr>
              <a:tr h="985328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Basic</a:t>
                      </a:r>
                      <a:endParaRPr lang="en-US" sz="2600" b="0" i="0" dirty="0">
                        <a:latin typeface="+mn-lt"/>
                      </a:endParaRPr>
                    </a:p>
                  </a:txBody>
                  <a:tcPr marL="133152" marR="133152" marT="66576" marB="6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Expected features. </a:t>
                      </a:r>
                    </a:p>
                    <a:p>
                      <a:pPr algn="ctr"/>
                      <a:r>
                        <a:rPr lang="en-US" sz="2600" dirty="0"/>
                        <a:t>Missing → dissatisfaction</a:t>
                      </a:r>
                      <a:endParaRPr lang="en-US" sz="2600" b="0" i="0" dirty="0">
                        <a:latin typeface="+mn-lt"/>
                      </a:endParaRPr>
                    </a:p>
                  </a:txBody>
                  <a:tcPr marL="133152" marR="133152" marT="66576" marB="66576" anchor="ctr"/>
                </a:tc>
                <a:extLst>
                  <a:ext uri="{0D108BD9-81ED-4DB2-BD59-A6C34878D82A}">
                    <a16:rowId xmlns:a16="http://schemas.microsoft.com/office/drawing/2014/main" val="3426822132"/>
                  </a:ext>
                </a:extLst>
              </a:tr>
              <a:tr h="985328">
                <a:tc>
                  <a:txBody>
                    <a:bodyPr/>
                    <a:lstStyle/>
                    <a:p>
                      <a:pPr algn="r"/>
                      <a:r>
                        <a:rPr lang="en-US" sz="2600" dirty="0"/>
                        <a:t>Performance</a:t>
                      </a:r>
                      <a:endParaRPr lang="en-US" sz="2600" b="0" i="0" dirty="0">
                        <a:latin typeface="+mn-lt"/>
                      </a:endParaRPr>
                    </a:p>
                  </a:txBody>
                  <a:tcPr marL="133152" marR="133152" marT="66576" marB="6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Better performance → higher satisfaction</a:t>
                      </a:r>
                      <a:endParaRPr lang="en-US" sz="2600" b="0" i="0" dirty="0">
                        <a:latin typeface="+mn-lt"/>
                      </a:endParaRPr>
                    </a:p>
                  </a:txBody>
                  <a:tcPr marL="133152" marR="133152" marT="66576" marB="66576" anchor="ctr"/>
                </a:tc>
                <a:extLst>
                  <a:ext uri="{0D108BD9-81ED-4DB2-BD59-A6C34878D82A}">
                    <a16:rowId xmlns:a16="http://schemas.microsoft.com/office/drawing/2014/main" val="4080530436"/>
                  </a:ext>
                </a:extLst>
              </a:tr>
              <a:tr h="985328">
                <a:tc>
                  <a:txBody>
                    <a:bodyPr/>
                    <a:lstStyle/>
                    <a:p>
                      <a:pPr algn="r"/>
                      <a:r>
                        <a:rPr lang="en-US" sz="2600" dirty="0"/>
                        <a:t>Excitement</a:t>
                      </a:r>
                      <a:endParaRPr lang="en-US" sz="2600" b="0" i="0" dirty="0">
                        <a:latin typeface="+mn-lt"/>
                      </a:endParaRPr>
                    </a:p>
                  </a:txBody>
                  <a:tcPr marL="133152" marR="133152" marT="66576" marB="6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Unexpected features → strong positive reaction</a:t>
                      </a:r>
                      <a:endParaRPr lang="en-US" sz="2600" b="0" i="0" dirty="0">
                        <a:latin typeface="+mn-lt"/>
                      </a:endParaRPr>
                    </a:p>
                  </a:txBody>
                  <a:tcPr marL="133152" marR="133152" marT="66576" marB="66576" anchor="ctr"/>
                </a:tc>
                <a:extLst>
                  <a:ext uri="{0D108BD9-81ED-4DB2-BD59-A6C34878D82A}">
                    <a16:rowId xmlns:a16="http://schemas.microsoft.com/office/drawing/2014/main" val="2562815619"/>
                  </a:ext>
                </a:extLst>
              </a:tr>
            </a:tbl>
          </a:graphicData>
        </a:graphic>
      </p:graphicFrame>
      <p:pic>
        <p:nvPicPr>
          <p:cNvPr id="3" name="Graphic 2" descr="Fireworks with solid fill">
            <a:extLst>
              <a:ext uri="{FF2B5EF4-FFF2-40B4-BE49-F238E27FC236}">
                <a16:creationId xmlns:a16="http://schemas.microsoft.com/office/drawing/2014/main" id="{392DC1C2-9268-9BE3-37BC-08AEF3B17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5275" y="3416824"/>
            <a:ext cx="914400" cy="914400"/>
          </a:xfrm>
          <a:prstGeom prst="rect">
            <a:avLst/>
          </a:prstGeom>
        </p:spPr>
      </p:pic>
      <p:pic>
        <p:nvPicPr>
          <p:cNvPr id="5" name="Graphic 4" descr="In love face outline with solid fill">
            <a:extLst>
              <a:ext uri="{FF2B5EF4-FFF2-40B4-BE49-F238E27FC236}">
                <a16:creationId xmlns:a16="http://schemas.microsoft.com/office/drawing/2014/main" id="{EEB79805-A9BA-EA66-0695-00D149C8F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0102" y="4401727"/>
            <a:ext cx="914400" cy="914400"/>
          </a:xfrm>
          <a:prstGeom prst="rect">
            <a:avLst/>
          </a:prstGeom>
        </p:spPr>
      </p:pic>
      <p:pic>
        <p:nvPicPr>
          <p:cNvPr id="13" name="Graphic 12" descr="Tools with solid fill">
            <a:extLst>
              <a:ext uri="{FF2B5EF4-FFF2-40B4-BE49-F238E27FC236}">
                <a16:creationId xmlns:a16="http://schemas.microsoft.com/office/drawing/2014/main" id="{FA7D3231-8D99-AE7A-928B-52FE45C764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92475" y="2514600"/>
            <a:ext cx="689599" cy="6895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ctrTitle"/>
          </p:nvPr>
        </p:nvSpPr>
        <p:spPr>
          <a:xfrm>
            <a:off x="2432304" y="96454"/>
            <a:ext cx="7644385" cy="1382972"/>
          </a:xfrm>
          <a:noFill/>
        </p:spPr>
        <p:txBody>
          <a:bodyPr>
            <a:noAutofit/>
          </a:bodyPr>
          <a:lstStyle/>
          <a:p>
            <a:r>
              <a:rPr lang="en-US" dirty="0"/>
              <a:t>Application to AI Candidate Search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D5E976-D70B-D7A3-BEC8-F430D3591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612018"/>
              </p:ext>
            </p:extLst>
          </p:nvPr>
        </p:nvGraphicFramePr>
        <p:xfrm>
          <a:off x="2347381" y="1735458"/>
          <a:ext cx="7765885" cy="3750943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065867">
                  <a:extLst>
                    <a:ext uri="{9D8B030D-6E8A-4147-A177-3AD203B41FA5}">
                      <a16:colId xmlns:a16="http://schemas.microsoft.com/office/drawing/2014/main" val="799014750"/>
                    </a:ext>
                  </a:extLst>
                </a:gridCol>
                <a:gridCol w="4700018">
                  <a:extLst>
                    <a:ext uri="{9D8B030D-6E8A-4147-A177-3AD203B41FA5}">
                      <a16:colId xmlns:a16="http://schemas.microsoft.com/office/drawing/2014/main" val="2868149991"/>
                    </a:ext>
                  </a:extLst>
                </a:gridCol>
              </a:tblGrid>
              <a:tr h="685965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+mn-lt"/>
                        </a:rPr>
                        <a:t>Types       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+mn-lt"/>
                        </a:rPr>
                        <a:t>Features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007969"/>
                  </a:ext>
                </a:extLst>
              </a:tr>
              <a:tr h="1120711">
                <a:tc>
                  <a:txBody>
                    <a:bodyPr/>
                    <a:lstStyle/>
                    <a:p>
                      <a:pPr lvl="1" algn="l"/>
                      <a:r>
                        <a:rPr lang="en-US" dirty="0"/>
                        <a:t>Basic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Search functionality</a:t>
                      </a:r>
                    </a:p>
                    <a:p>
                      <a:r>
                        <a:rPr lang="en-US" dirty="0"/>
                        <a:t>- Stable filters</a:t>
                      </a:r>
                    </a:p>
                    <a:p>
                      <a:r>
                        <a:rPr lang="en-US" dirty="0"/>
                        <a:t>- System stability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822132"/>
                  </a:ext>
                </a:extLst>
              </a:tr>
              <a:tr h="11207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</a:rPr>
                        <a:t>        </a:t>
                      </a:r>
                      <a:r>
                        <a:rPr lang="en-US" dirty="0"/>
                        <a:t>Performance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Ranking accuracy</a:t>
                      </a:r>
                    </a:p>
                    <a:p>
                      <a:r>
                        <a:rPr lang="en-US" dirty="0"/>
                        <a:t>- Speed</a:t>
                      </a:r>
                    </a:p>
                    <a:p>
                      <a:r>
                        <a:rPr lang="en-US" dirty="0"/>
                        <a:t>- Clear match score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530436"/>
                  </a:ext>
                </a:extLst>
              </a:tr>
              <a:tr h="8235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</a:rPr>
                        <a:t>       Excitement</a:t>
                      </a:r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AI explanation</a:t>
                      </a:r>
                    </a:p>
                    <a:p>
                      <a:r>
                        <a:rPr lang="en-US" dirty="0"/>
                        <a:t>- Adaptive feedback learning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7418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357" y="232883"/>
            <a:ext cx="9653286" cy="1158254"/>
          </a:xfrm>
        </p:spPr>
        <p:txBody>
          <a:bodyPr anchor="b">
            <a:normAutofit/>
          </a:bodyPr>
          <a:lstStyle/>
          <a:p>
            <a:r>
              <a:rPr lang="en-US" dirty="0"/>
              <a:t>Design impact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FC467A-2583-9ACF-51CD-B0F936380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9" y="1472185"/>
            <a:ext cx="5870447" cy="4041647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734615" y="1472186"/>
            <a:ext cx="4832545" cy="4326730"/>
          </a:xfrm>
        </p:spPr>
        <p:txBody>
          <a:bodyPr>
            <a:noAutofit/>
          </a:bodyPr>
          <a:lstStyle/>
          <a:p>
            <a:r>
              <a:rPr lang="en-US" sz="1600" dirty="0"/>
              <a:t>Key differentiator: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Explainability + Adaptivity</a:t>
            </a:r>
          </a:p>
          <a:p>
            <a:endParaRPr lang="en-US" sz="1600" dirty="0"/>
          </a:p>
          <a:p>
            <a:r>
              <a:rPr lang="en-US" sz="1600" dirty="0"/>
              <a:t>In AI systems:</a:t>
            </a:r>
          </a:p>
          <a:p>
            <a:pPr lvl="1"/>
            <a:r>
              <a:rPr lang="en-US" sz="1600" dirty="0"/>
              <a:t>Basic features ensure usability</a:t>
            </a:r>
          </a:p>
          <a:p>
            <a:pPr lvl="1"/>
            <a:r>
              <a:rPr lang="en-US" sz="1600" dirty="0"/>
              <a:t>Performance features build trust</a:t>
            </a:r>
          </a:p>
          <a:p>
            <a:pPr lvl="1"/>
            <a:r>
              <a:rPr lang="en-US" sz="1600" dirty="0"/>
              <a:t>Excitement features create innovation perception</a:t>
            </a:r>
          </a:p>
          <a:p>
            <a:pPr marL="0" lvl="1" indent="0">
              <a:buNone/>
            </a:pPr>
            <a:endParaRPr lang="en-US" sz="1600" dirty="0"/>
          </a:p>
          <a:p>
            <a:pPr marL="0" lvl="1" indent="0">
              <a:buNone/>
            </a:pPr>
            <a:r>
              <a:rPr lang="en-US" sz="1600" dirty="0"/>
              <a:t>Kano influenced UI priorities:</a:t>
            </a:r>
          </a:p>
          <a:p>
            <a:pPr lvl="1"/>
            <a:r>
              <a:rPr lang="en-US" sz="1600" dirty="0"/>
              <a:t>Match score emphasized (performance feature)</a:t>
            </a:r>
          </a:p>
          <a:p>
            <a:pPr lvl="1"/>
            <a:r>
              <a:rPr lang="en-US" sz="1600" dirty="0"/>
              <a:t>Explanation visible (excitement feature)</a:t>
            </a:r>
          </a:p>
          <a:p>
            <a:pPr lvl="1"/>
            <a:r>
              <a:rPr lang="en-US" sz="1600" dirty="0"/>
              <a:t>Filters simple and reliable (basic feature)</a:t>
            </a:r>
          </a:p>
        </p:txBody>
      </p:sp>
    </p:spTree>
    <p:extLst>
      <p:ext uri="{BB962C8B-B14F-4D97-AF65-F5344CB8AC3E}">
        <p14:creationId xmlns:p14="http://schemas.microsoft.com/office/powerpoint/2010/main" val="1420595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69" y="448056"/>
            <a:ext cx="10045861" cy="1146680"/>
          </a:xfrm>
          <a:noFill/>
        </p:spPr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4848" y="1762060"/>
            <a:ext cx="5816936" cy="4126676"/>
          </a:xfrm>
          <a:noFill/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Kano helped us: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FF"/>
                </a:solidFill>
              </a:rPr>
              <a:t>Prioritize system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FF"/>
                </a:solidFill>
              </a:rPr>
              <a:t>Justify UI design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FF"/>
                </a:solidFill>
              </a:rPr>
              <a:t>Identify competitive 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FF"/>
                </a:solidFill>
              </a:rPr>
              <a:t>Align AI transparency with user satisfaction</a:t>
            </a:r>
          </a:p>
          <a:p>
            <a:r>
              <a:rPr lang="en-US" dirty="0">
                <a:solidFill>
                  <a:srgbClr val="0000FF"/>
                </a:solidFill>
              </a:rPr>
              <a:t>In AI-powered recruitment tools: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Delighter features build trust and differentiation.</a:t>
            </a:r>
          </a:p>
        </p:txBody>
      </p:sp>
    </p:spTree>
    <p:extLst>
      <p:ext uri="{BB962C8B-B14F-4D97-AF65-F5344CB8AC3E}">
        <p14:creationId xmlns:p14="http://schemas.microsoft.com/office/powerpoint/2010/main" val="1994246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75" y="92597"/>
            <a:ext cx="3905250" cy="3032567"/>
          </a:xfrm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1156717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0081922">
      <a:dk1>
        <a:srgbClr val="000000"/>
      </a:dk1>
      <a:lt1>
        <a:srgbClr val="FFFFFF"/>
      </a:lt1>
      <a:dk2>
        <a:srgbClr val="435369"/>
      </a:dk2>
      <a:lt2>
        <a:srgbClr val="E7E5E5"/>
      </a:lt2>
      <a:accent1>
        <a:srgbClr val="F2E5D8"/>
      </a:accent1>
      <a:accent2>
        <a:srgbClr val="8C3A27"/>
      </a:accent2>
      <a:accent3>
        <a:srgbClr val="F0C8BC"/>
      </a:accent3>
      <a:accent4>
        <a:srgbClr val="D9A390"/>
      </a:accent4>
      <a:accent5>
        <a:srgbClr val="FFF6F4"/>
      </a:accent5>
      <a:accent6>
        <a:srgbClr val="183F1E"/>
      </a:accent6>
      <a:hlink>
        <a:srgbClr val="467886"/>
      </a:hlink>
      <a:folHlink>
        <a:srgbClr val="96607D"/>
      </a:folHlink>
    </a:clrScheme>
    <a:fontScheme name="Custom 100">
      <a:majorFont>
        <a:latin typeface="Tisa Offc Serif Pro"/>
        <a:ea typeface=""/>
        <a:cs typeface=""/>
      </a:majorFont>
      <a:minorFont>
        <a:latin typeface="Qui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10081922_Win32_SL_V4" id="{CCBED28E-3218-45D8-920F-A2D91CCE8680}" vid="{A1C6549C-A185-4AC8-97B3-DFFFA73555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AF1DBB7-4BA2-49E3-BEC8-A38406CA5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2D96AF-4C9E-4DD0-A165-CD22BB87D0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349358-775F-4CF9-9AE6-33A7901637E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{AF815478-0060-4F0D-A8E2-EA964166D4AB}TF96423eb0-8e02-4a99-b83b-bc60d19202d5328e4d86_win32-c07ae754e67e</Template>
  <TotalTime>993</TotalTime>
  <Words>178</Words>
  <Application>Microsoft Office PowerPoint</Application>
  <PresentationFormat>Widescreen</PresentationFormat>
  <Paragraphs>51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Quire Sans Pro Light</vt:lpstr>
      <vt:lpstr>Tisa Offc Serif Pro</vt:lpstr>
      <vt:lpstr>Custom</vt:lpstr>
      <vt:lpstr> Kano analysis  Designing what users    love, expect &amp; crave     </vt:lpstr>
      <vt:lpstr>Feature types</vt:lpstr>
      <vt:lpstr>Application to AI Candidate Search</vt:lpstr>
      <vt:lpstr>Design impact</vt:lpstr>
      <vt:lpstr>Key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Ngoc Sang Ngo</dc:creator>
  <cp:lastModifiedBy>Ngoc Sang Ngo</cp:lastModifiedBy>
  <cp:revision>74</cp:revision>
  <dcterms:created xsi:type="dcterms:W3CDTF">2025-11-13T13:51:51Z</dcterms:created>
  <dcterms:modified xsi:type="dcterms:W3CDTF">2026-03-08T18:56:41Z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