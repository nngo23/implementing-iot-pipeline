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mp4" ContentType="video/mp4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Poppins" panose="020B0502040204020203" pitchFamily="2" charset="0"/>
      <p:regular r:id="rId10"/>
    </p:embeddedFont>
    <p:embeddedFont>
      <p:font typeface="Poppins Medium" panose="020B0502040204020203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1216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jpeg"/><Relationship Id="rId4" Type="http://schemas.openxmlformats.org/officeDocument/2006/relationships/image" Target="../media/image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69965" y="763185"/>
            <a:ext cx="3086100" cy="435030"/>
            <a:chOff x="0" y="0"/>
            <a:chExt cx="4114800" cy="580040"/>
          </a:xfrm>
        </p:grpSpPr>
        <p:grpSp>
          <p:nvGrpSpPr>
            <p:cNvPr id="3" name="Group 3"/>
            <p:cNvGrpSpPr/>
            <p:nvPr/>
          </p:nvGrpSpPr>
          <p:grpSpPr>
            <a:xfrm>
              <a:off x="3249196" y="0"/>
              <a:ext cx="865604" cy="580040"/>
              <a:chOff x="0" y="0"/>
              <a:chExt cx="170983" cy="11457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70983" cy="114576"/>
              </a:xfrm>
              <a:custGeom>
                <a:avLst/>
                <a:gdLst/>
                <a:ahLst/>
                <a:cxnLst/>
                <a:rect l="l" t="t" r="r" b="b"/>
                <a:pathLst>
                  <a:path w="170983" h="114576">
                    <a:moveTo>
                      <a:pt x="0" y="0"/>
                    </a:moveTo>
                    <a:lnTo>
                      <a:pt x="170983" y="0"/>
                    </a:lnTo>
                    <a:lnTo>
                      <a:pt x="170983" y="114576"/>
                    </a:lnTo>
                    <a:lnTo>
                      <a:pt x="0" y="114576"/>
                    </a:lnTo>
                    <a:close/>
                  </a:path>
                </a:pathLst>
              </a:custGeom>
              <a:solidFill>
                <a:srgbClr val="FD01FD"/>
              </a:solidFill>
            </p:spPr>
            <p:txBody>
              <a:bodyPr/>
              <a:lstStyle/>
              <a:p>
                <a:endParaRPr lang="en-FI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66675"/>
                <a:ext cx="170983" cy="1812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490202" y="0"/>
              <a:ext cx="865604" cy="580040"/>
              <a:chOff x="0" y="0"/>
              <a:chExt cx="170983" cy="11457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70983" cy="114576"/>
              </a:xfrm>
              <a:custGeom>
                <a:avLst/>
                <a:gdLst/>
                <a:ahLst/>
                <a:cxnLst/>
                <a:rect l="l" t="t" r="r" b="b"/>
                <a:pathLst>
                  <a:path w="170983" h="114576">
                    <a:moveTo>
                      <a:pt x="0" y="0"/>
                    </a:moveTo>
                    <a:lnTo>
                      <a:pt x="170983" y="0"/>
                    </a:lnTo>
                    <a:lnTo>
                      <a:pt x="170983" y="114576"/>
                    </a:lnTo>
                    <a:lnTo>
                      <a:pt x="0" y="114576"/>
                    </a:lnTo>
                    <a:close/>
                  </a:path>
                </a:pathLst>
              </a:custGeom>
              <a:solidFill>
                <a:srgbClr val="FCCF37"/>
              </a:solidFill>
            </p:spPr>
            <p:txBody>
              <a:bodyPr/>
              <a:lstStyle/>
              <a:p>
                <a:endParaRPr lang="en-FI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66675"/>
                <a:ext cx="170983" cy="1812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731207" y="0"/>
              <a:ext cx="865604" cy="580040"/>
              <a:chOff x="0" y="0"/>
              <a:chExt cx="170983" cy="11457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70983" cy="114576"/>
              </a:xfrm>
              <a:custGeom>
                <a:avLst/>
                <a:gdLst/>
                <a:ahLst/>
                <a:cxnLst/>
                <a:rect l="l" t="t" r="r" b="b"/>
                <a:pathLst>
                  <a:path w="170983" h="114576">
                    <a:moveTo>
                      <a:pt x="0" y="0"/>
                    </a:moveTo>
                    <a:lnTo>
                      <a:pt x="170983" y="0"/>
                    </a:lnTo>
                    <a:lnTo>
                      <a:pt x="170983" y="114576"/>
                    </a:lnTo>
                    <a:lnTo>
                      <a:pt x="0" y="1145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D01FD">
                      <a:alpha val="100000"/>
                    </a:srgbClr>
                  </a:gs>
                  <a:gs pos="100000">
                    <a:srgbClr val="FCCF37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FI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170983" cy="1812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65604" y="0"/>
              <a:ext cx="865604" cy="580040"/>
              <a:chOff x="0" y="0"/>
              <a:chExt cx="170983" cy="11457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70983" cy="114576"/>
              </a:xfrm>
              <a:custGeom>
                <a:avLst/>
                <a:gdLst/>
                <a:ahLst/>
                <a:cxnLst/>
                <a:rect l="l" t="t" r="r" b="b"/>
                <a:pathLst>
                  <a:path w="170983" h="114576">
                    <a:moveTo>
                      <a:pt x="0" y="0"/>
                    </a:moveTo>
                    <a:lnTo>
                      <a:pt x="170983" y="0"/>
                    </a:lnTo>
                    <a:lnTo>
                      <a:pt x="170983" y="114576"/>
                    </a:lnTo>
                    <a:lnTo>
                      <a:pt x="0" y="114576"/>
                    </a:lnTo>
                    <a:close/>
                  </a:path>
                </a:pathLst>
              </a:custGeom>
              <a:solidFill>
                <a:srgbClr val="FFF7DD"/>
              </a:solidFill>
            </p:spPr>
            <p:txBody>
              <a:bodyPr/>
              <a:lstStyle/>
              <a:p>
                <a:endParaRPr lang="en-FI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170983" cy="1812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865604" cy="580040"/>
              <a:chOff x="0" y="0"/>
              <a:chExt cx="170983" cy="11457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70983" cy="114576"/>
              </a:xfrm>
              <a:custGeom>
                <a:avLst/>
                <a:gdLst/>
                <a:ahLst/>
                <a:cxnLst/>
                <a:rect l="l" t="t" r="r" b="b"/>
                <a:pathLst>
                  <a:path w="170983" h="114576">
                    <a:moveTo>
                      <a:pt x="0" y="0"/>
                    </a:moveTo>
                    <a:lnTo>
                      <a:pt x="170983" y="0"/>
                    </a:lnTo>
                    <a:lnTo>
                      <a:pt x="170983" y="114576"/>
                    </a:lnTo>
                    <a:lnTo>
                      <a:pt x="0" y="114576"/>
                    </a:lnTo>
                    <a:close/>
                  </a:path>
                </a:pathLst>
              </a:custGeom>
              <a:solidFill>
                <a:srgbClr val="160016"/>
              </a:solidFill>
            </p:spPr>
            <p:txBody>
              <a:bodyPr/>
              <a:lstStyle/>
              <a:p>
                <a:endParaRPr lang="en-FI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66675"/>
                <a:ext cx="170983" cy="1812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7229876" y="1107467"/>
            <a:ext cx="3828249" cy="382824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3843">
                <a:alpha val="50980"/>
              </a:srgbClr>
            </a:solidFill>
            <a:ln w="9525" cap="sq">
              <a:gradFill>
                <a:gsLst>
                  <a:gs pos="0">
                    <a:srgbClr val="FD01FD">
                      <a:alpha val="51000"/>
                    </a:srgbClr>
                  </a:gs>
                  <a:gs pos="100000">
                    <a:srgbClr val="FCCF37">
                      <a:alpha val="51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12607" y="1490198"/>
            <a:ext cx="3062786" cy="3062786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3843">
                <a:alpha val="80784"/>
              </a:srgbClr>
            </a:solidFill>
            <a:ln w="9525" cap="sq">
              <a:gradFill>
                <a:gsLst>
                  <a:gs pos="0">
                    <a:srgbClr val="FD01FD">
                      <a:alpha val="81000"/>
                    </a:srgbClr>
                  </a:gs>
                  <a:gs pos="100000">
                    <a:srgbClr val="FCCF37">
                      <a:alpha val="81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947258" y="1808626"/>
            <a:ext cx="2393485" cy="239348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FF">
                    <a:alpha val="100000"/>
                  </a:srgbClr>
                </a:gs>
                <a:gs pos="100000">
                  <a:srgbClr val="FCCF37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8638535" y="2285147"/>
            <a:ext cx="1010929" cy="1440443"/>
          </a:xfrm>
          <a:custGeom>
            <a:avLst/>
            <a:gdLst/>
            <a:ahLst/>
            <a:cxnLst/>
            <a:rect l="l" t="t" r="r" b="b"/>
            <a:pathLst>
              <a:path w="1010929" h="1440443">
                <a:moveTo>
                  <a:pt x="0" y="0"/>
                </a:moveTo>
                <a:lnTo>
                  <a:pt x="1010930" y="0"/>
                </a:lnTo>
                <a:lnTo>
                  <a:pt x="1010930" y="1440443"/>
                </a:lnTo>
                <a:lnTo>
                  <a:pt x="0" y="14404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sp>
        <p:nvSpPr>
          <p:cNvPr id="28" name="TextBox 28"/>
          <p:cNvSpPr txBox="1"/>
          <p:nvPr/>
        </p:nvSpPr>
        <p:spPr>
          <a:xfrm>
            <a:off x="1781254" y="5469748"/>
            <a:ext cx="14725491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</a:pPr>
            <a:r>
              <a:rPr lang="en-US" sz="9000" b="1">
                <a:solidFill>
                  <a:srgbClr val="FFF7D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Candidate Voice Search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81254" y="7003273"/>
            <a:ext cx="14725491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When Your Voice Becomes the Ultimate Digital Control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308643" y="8503858"/>
            <a:ext cx="3670714" cy="608535"/>
            <a:chOff x="0" y="0"/>
            <a:chExt cx="4894286" cy="81138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4894286" cy="811380"/>
              <a:chOff x="0" y="0"/>
              <a:chExt cx="891083" cy="1477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91083" cy="147725"/>
              </a:xfrm>
              <a:custGeom>
                <a:avLst/>
                <a:gdLst/>
                <a:ahLst/>
                <a:cxnLst/>
                <a:rect l="l" t="t" r="r" b="b"/>
                <a:pathLst>
                  <a:path w="891083" h="147725">
                    <a:moveTo>
                      <a:pt x="73862" y="0"/>
                    </a:moveTo>
                    <a:lnTo>
                      <a:pt x="817220" y="0"/>
                    </a:lnTo>
                    <a:cubicBezTo>
                      <a:pt x="836810" y="0"/>
                      <a:pt x="855597" y="7782"/>
                      <a:pt x="869449" y="21634"/>
                    </a:cubicBezTo>
                    <a:cubicBezTo>
                      <a:pt x="883301" y="35486"/>
                      <a:pt x="891083" y="54273"/>
                      <a:pt x="891083" y="73862"/>
                    </a:cubicBezTo>
                    <a:lnTo>
                      <a:pt x="891083" y="73862"/>
                    </a:lnTo>
                    <a:cubicBezTo>
                      <a:pt x="891083" y="114655"/>
                      <a:pt x="858013" y="147725"/>
                      <a:pt x="817220" y="147725"/>
                    </a:cubicBezTo>
                    <a:lnTo>
                      <a:pt x="73862" y="147725"/>
                    </a:lnTo>
                    <a:cubicBezTo>
                      <a:pt x="33069" y="147725"/>
                      <a:pt x="0" y="114655"/>
                      <a:pt x="0" y="73862"/>
                    </a:cubicBezTo>
                    <a:lnTo>
                      <a:pt x="0" y="73862"/>
                    </a:lnTo>
                    <a:cubicBezTo>
                      <a:pt x="0" y="33069"/>
                      <a:pt x="33069" y="0"/>
                      <a:pt x="73862" y="0"/>
                    </a:cubicBezTo>
                    <a:close/>
                  </a:path>
                </a:pathLst>
              </a:custGeom>
              <a:solidFill>
                <a:srgbClr val="4B3843"/>
              </a:solidFill>
              <a:ln w="28575" cap="rnd">
                <a:gradFill>
                  <a:gsLst>
                    <a:gs pos="0">
                      <a:srgbClr val="FD01FD">
                        <a:alpha val="100000"/>
                      </a:srgbClr>
                    </a:gs>
                    <a:gs pos="100000">
                      <a:srgbClr val="FCCF37">
                        <a:alpha val="100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en-FI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66675"/>
                <a:ext cx="891083" cy="214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363279" y="205665"/>
              <a:ext cx="3333731" cy="352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FFF7DD"/>
                  </a:solidFill>
                  <a:latin typeface="Poppins"/>
                  <a:ea typeface="Poppins"/>
                  <a:cs typeface="Poppins"/>
                  <a:sym typeface="Poppins"/>
                </a:rPr>
                <a:t>Tap Here to Start With Us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4119543" y="72881"/>
              <a:ext cx="665617" cy="665617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D01FD">
                      <a:alpha val="100000"/>
                    </a:srgbClr>
                  </a:gs>
                  <a:gs pos="100000">
                    <a:srgbClr val="FCCF37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FI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38" name="Freeform 38"/>
            <p:cNvSpPr/>
            <p:nvPr/>
          </p:nvSpPr>
          <p:spPr>
            <a:xfrm>
              <a:off x="4342461" y="249110"/>
              <a:ext cx="219781" cy="313159"/>
            </a:xfrm>
            <a:custGeom>
              <a:avLst/>
              <a:gdLst/>
              <a:ahLst/>
              <a:cxnLst/>
              <a:rect l="l" t="t" r="r" b="b"/>
              <a:pathLst>
                <a:path w="219781" h="313159">
                  <a:moveTo>
                    <a:pt x="0" y="0"/>
                  </a:moveTo>
                  <a:lnTo>
                    <a:pt x="219781" y="0"/>
                  </a:lnTo>
                  <a:lnTo>
                    <a:pt x="219781" y="313159"/>
                  </a:lnTo>
                  <a:lnTo>
                    <a:pt x="0" y="313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FI"/>
            </a:p>
          </p:txBody>
        </p:sp>
      </p:grpSp>
      <p:pic>
        <p:nvPicPr>
          <p:cNvPr id="39" name="Picture 39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962400" y="9198935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cmd cmd="playFrom(0.0)">
              <p:cBhvr>
                <p:cTn id="2"/>
                <p:tgtEl>
                  <p:spTgt spid="39"/>
                </p:tgtEl>
              </p:cBhvr>
            </p:cmd>
            <p:audio>
              <p:cMediaNode vol="100000" showWhenStopped="0">
                <p:cTn id="3"/>
                <p:tgtEl>
                  <p:spTgt spid="3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490684" y="25336"/>
            <a:ext cx="8617919" cy="10236518"/>
            <a:chOff x="0" y="0"/>
            <a:chExt cx="2269740" cy="2696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9740" cy="2696038"/>
            </a:xfrm>
            <a:custGeom>
              <a:avLst/>
              <a:gdLst/>
              <a:ahLst/>
              <a:cxnLst/>
              <a:rect l="l" t="t" r="r" b="b"/>
              <a:pathLst>
                <a:path w="2269740" h="2696038">
                  <a:moveTo>
                    <a:pt x="26951" y="0"/>
                  </a:moveTo>
                  <a:lnTo>
                    <a:pt x="2242789" y="0"/>
                  </a:lnTo>
                  <a:cubicBezTo>
                    <a:pt x="2249937" y="0"/>
                    <a:pt x="2256792" y="2839"/>
                    <a:pt x="2261846" y="7894"/>
                  </a:cubicBezTo>
                  <a:cubicBezTo>
                    <a:pt x="2266901" y="12948"/>
                    <a:pt x="2269740" y="19803"/>
                    <a:pt x="2269740" y="26951"/>
                  </a:cubicBezTo>
                  <a:lnTo>
                    <a:pt x="2269740" y="2669087"/>
                  </a:lnTo>
                  <a:cubicBezTo>
                    <a:pt x="2269740" y="2676235"/>
                    <a:pt x="2266901" y="2683090"/>
                    <a:pt x="2261846" y="2688144"/>
                  </a:cubicBezTo>
                  <a:cubicBezTo>
                    <a:pt x="2256792" y="2693198"/>
                    <a:pt x="2249937" y="2696038"/>
                    <a:pt x="2242789" y="2696038"/>
                  </a:cubicBezTo>
                  <a:lnTo>
                    <a:pt x="26951" y="2696038"/>
                  </a:lnTo>
                  <a:cubicBezTo>
                    <a:pt x="19803" y="2696038"/>
                    <a:pt x="12948" y="2693198"/>
                    <a:pt x="7894" y="2688144"/>
                  </a:cubicBezTo>
                  <a:cubicBezTo>
                    <a:pt x="2839" y="2683090"/>
                    <a:pt x="0" y="2676235"/>
                    <a:pt x="0" y="2669087"/>
                  </a:cubicBezTo>
                  <a:lnTo>
                    <a:pt x="0" y="26951"/>
                  </a:lnTo>
                  <a:cubicBezTo>
                    <a:pt x="0" y="19803"/>
                    <a:pt x="2839" y="12948"/>
                    <a:pt x="7894" y="7894"/>
                  </a:cubicBezTo>
                  <a:cubicBezTo>
                    <a:pt x="12948" y="2839"/>
                    <a:pt x="19803" y="0"/>
                    <a:pt x="2695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FF">
                    <a:alpha val="100000"/>
                  </a:srgbClr>
                </a:gs>
                <a:gs pos="50000">
                  <a:srgbClr val="FF00FF">
                    <a:alpha val="100000"/>
                  </a:srgbClr>
                </a:gs>
                <a:gs pos="100000">
                  <a:srgbClr val="FCCF37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FI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269740" cy="2762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543745" y="777296"/>
            <a:ext cx="6062871" cy="288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6200" b="1">
                <a:solidFill>
                  <a:srgbClr val="FFF7D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Perfect Timing for </a:t>
            </a:r>
          </a:p>
          <a:p>
            <a:pPr marL="0" lvl="0" indent="0" algn="l">
              <a:lnSpc>
                <a:spcPts val="7440"/>
              </a:lnSpc>
            </a:pPr>
            <a:r>
              <a:rPr lang="en-US" sz="6200" b="1">
                <a:solidFill>
                  <a:srgbClr val="FFF7D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Shift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43745" y="7033279"/>
            <a:ext cx="5701903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Modern life is fast-paced, with people multitasking frequently. Voice interaction enables hands-free control, enhancing speed and convenience, making it ideal for efficient candidate search.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29432" y="4867862"/>
            <a:ext cx="6660391" cy="4285912"/>
            <a:chOff x="0" y="0"/>
            <a:chExt cx="1616840" cy="10404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16840" cy="1040425"/>
            </a:xfrm>
            <a:custGeom>
              <a:avLst/>
              <a:gdLst/>
              <a:ahLst/>
              <a:cxnLst/>
              <a:rect l="l" t="t" r="r" b="b"/>
              <a:pathLst>
                <a:path w="1616840" h="1040425">
                  <a:moveTo>
                    <a:pt x="17436" y="0"/>
                  </a:moveTo>
                  <a:lnTo>
                    <a:pt x="1599405" y="0"/>
                  </a:lnTo>
                  <a:cubicBezTo>
                    <a:pt x="1604029" y="0"/>
                    <a:pt x="1608464" y="1837"/>
                    <a:pt x="1611734" y="5107"/>
                  </a:cubicBezTo>
                  <a:cubicBezTo>
                    <a:pt x="1615003" y="8377"/>
                    <a:pt x="1616840" y="12811"/>
                    <a:pt x="1616840" y="17436"/>
                  </a:cubicBezTo>
                  <a:lnTo>
                    <a:pt x="1616840" y="1022989"/>
                  </a:lnTo>
                  <a:cubicBezTo>
                    <a:pt x="1616840" y="1032618"/>
                    <a:pt x="1609034" y="1040425"/>
                    <a:pt x="1599405" y="1040425"/>
                  </a:cubicBezTo>
                  <a:lnTo>
                    <a:pt x="17436" y="1040425"/>
                  </a:lnTo>
                  <a:cubicBezTo>
                    <a:pt x="12811" y="1040425"/>
                    <a:pt x="8377" y="1038588"/>
                    <a:pt x="5107" y="1035318"/>
                  </a:cubicBezTo>
                  <a:cubicBezTo>
                    <a:pt x="1837" y="1032048"/>
                    <a:pt x="0" y="1027613"/>
                    <a:pt x="0" y="1022989"/>
                  </a:cubicBezTo>
                  <a:lnTo>
                    <a:pt x="0" y="17436"/>
                  </a:lnTo>
                  <a:cubicBezTo>
                    <a:pt x="0" y="12811"/>
                    <a:pt x="1837" y="8377"/>
                    <a:pt x="5107" y="5107"/>
                  </a:cubicBezTo>
                  <a:cubicBezTo>
                    <a:pt x="8377" y="1837"/>
                    <a:pt x="12811" y="0"/>
                    <a:pt x="17436" y="0"/>
                  </a:cubicBezTo>
                  <a:close/>
                </a:path>
              </a:pathLst>
            </a:custGeom>
            <a:solidFill>
              <a:srgbClr val="4B3843">
                <a:alpha val="36863"/>
              </a:srgbClr>
            </a:solidFill>
            <a:ln w="28575" cap="sq">
              <a:solidFill>
                <a:srgbClr val="FFFFFF">
                  <a:alpha val="3686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616840" cy="110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9371" y="1651973"/>
            <a:ext cx="499213" cy="4992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D01FD">
                    <a:alpha val="100000"/>
                  </a:srgbClr>
                </a:gs>
                <a:gs pos="100000">
                  <a:srgbClr val="FCCF37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9525" cap="sq">
              <a:solidFill>
                <a:srgbClr val="160016"/>
              </a:solidFill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29432" y="1651973"/>
            <a:ext cx="6188013" cy="928826"/>
            <a:chOff x="0" y="0"/>
            <a:chExt cx="1502168" cy="22547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02168" cy="225477"/>
            </a:xfrm>
            <a:custGeom>
              <a:avLst/>
              <a:gdLst/>
              <a:ahLst/>
              <a:cxnLst/>
              <a:rect l="l" t="t" r="r" b="b"/>
              <a:pathLst>
                <a:path w="1502168" h="225477">
                  <a:moveTo>
                    <a:pt x="18767" y="0"/>
                  </a:moveTo>
                  <a:lnTo>
                    <a:pt x="1483402" y="0"/>
                  </a:lnTo>
                  <a:cubicBezTo>
                    <a:pt x="1493766" y="0"/>
                    <a:pt x="1502168" y="8402"/>
                    <a:pt x="1502168" y="18767"/>
                  </a:cubicBezTo>
                  <a:lnTo>
                    <a:pt x="1502168" y="206710"/>
                  </a:lnTo>
                  <a:cubicBezTo>
                    <a:pt x="1502168" y="211687"/>
                    <a:pt x="1500191" y="216461"/>
                    <a:pt x="1496672" y="219980"/>
                  </a:cubicBezTo>
                  <a:cubicBezTo>
                    <a:pt x="1493152" y="223500"/>
                    <a:pt x="1488379" y="225477"/>
                    <a:pt x="1483402" y="225477"/>
                  </a:cubicBezTo>
                  <a:lnTo>
                    <a:pt x="18767" y="225477"/>
                  </a:lnTo>
                  <a:cubicBezTo>
                    <a:pt x="8402" y="225477"/>
                    <a:pt x="0" y="217075"/>
                    <a:pt x="0" y="206710"/>
                  </a:cubicBezTo>
                  <a:lnTo>
                    <a:pt x="0" y="18767"/>
                  </a:lnTo>
                  <a:cubicBezTo>
                    <a:pt x="0" y="8402"/>
                    <a:pt x="8402" y="0"/>
                    <a:pt x="18767" y="0"/>
                  </a:cubicBezTo>
                  <a:close/>
                </a:path>
              </a:pathLst>
            </a:custGeom>
            <a:solidFill>
              <a:srgbClr val="4B3843">
                <a:alpha val="36863"/>
              </a:srgbClr>
            </a:solidFill>
            <a:ln w="28575" cap="sq">
              <a:solidFill>
                <a:srgbClr val="FFFFFF">
                  <a:alpha val="3686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502168" cy="292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13266" y="3056627"/>
            <a:ext cx="6504411" cy="1639786"/>
            <a:chOff x="0" y="0"/>
            <a:chExt cx="1578975" cy="39806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78975" cy="398065"/>
            </a:xfrm>
            <a:custGeom>
              <a:avLst/>
              <a:gdLst/>
              <a:ahLst/>
              <a:cxnLst/>
              <a:rect l="l" t="t" r="r" b="b"/>
              <a:pathLst>
                <a:path w="1578975" h="398065">
                  <a:moveTo>
                    <a:pt x="17854" y="0"/>
                  </a:moveTo>
                  <a:lnTo>
                    <a:pt x="1561122" y="0"/>
                  </a:lnTo>
                  <a:cubicBezTo>
                    <a:pt x="1565857" y="0"/>
                    <a:pt x="1570398" y="1881"/>
                    <a:pt x="1573746" y="5229"/>
                  </a:cubicBezTo>
                  <a:cubicBezTo>
                    <a:pt x="1577094" y="8578"/>
                    <a:pt x="1578975" y="13119"/>
                    <a:pt x="1578975" y="17854"/>
                  </a:cubicBezTo>
                  <a:lnTo>
                    <a:pt x="1578975" y="380212"/>
                  </a:lnTo>
                  <a:cubicBezTo>
                    <a:pt x="1578975" y="390072"/>
                    <a:pt x="1570982" y="398065"/>
                    <a:pt x="1561122" y="398065"/>
                  </a:cubicBezTo>
                  <a:lnTo>
                    <a:pt x="17854" y="398065"/>
                  </a:lnTo>
                  <a:cubicBezTo>
                    <a:pt x="13119" y="398065"/>
                    <a:pt x="8578" y="396184"/>
                    <a:pt x="5229" y="392836"/>
                  </a:cubicBezTo>
                  <a:cubicBezTo>
                    <a:pt x="1881" y="389488"/>
                    <a:pt x="0" y="384947"/>
                    <a:pt x="0" y="380212"/>
                  </a:cubicBezTo>
                  <a:lnTo>
                    <a:pt x="0" y="17854"/>
                  </a:lnTo>
                  <a:cubicBezTo>
                    <a:pt x="0" y="13119"/>
                    <a:pt x="1881" y="8578"/>
                    <a:pt x="5229" y="5229"/>
                  </a:cubicBezTo>
                  <a:cubicBezTo>
                    <a:pt x="8578" y="1881"/>
                    <a:pt x="13119" y="0"/>
                    <a:pt x="17854" y="0"/>
                  </a:cubicBezTo>
                  <a:close/>
                </a:path>
              </a:pathLst>
            </a:custGeom>
            <a:solidFill>
              <a:srgbClr val="4B3843">
                <a:alpha val="36863"/>
              </a:srgbClr>
            </a:solidFill>
            <a:ln w="28575" cap="sq">
              <a:solidFill>
                <a:srgbClr val="FFFFFF">
                  <a:alpha val="3686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578975" cy="464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59371" y="4867862"/>
            <a:ext cx="499213" cy="49921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D01FD">
                    <a:alpha val="100000"/>
                  </a:srgbClr>
                </a:gs>
                <a:gs pos="100000">
                  <a:srgbClr val="FCCF37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9525" cap="sq">
              <a:solidFill>
                <a:srgbClr val="160016"/>
              </a:solidFill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40702" y="3022685"/>
            <a:ext cx="499213" cy="499213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D01FD">
                    <a:alpha val="100000"/>
                  </a:srgbClr>
                </a:gs>
                <a:gs pos="100000">
                  <a:srgbClr val="FCCF37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9525" cap="sq">
              <a:solidFill>
                <a:srgbClr val="160016"/>
              </a:solidFill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089437" y="5647305"/>
            <a:ext cx="4970120" cy="47625"/>
            <a:chOff x="0" y="0"/>
            <a:chExt cx="1309003" cy="1254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09003" cy="12543"/>
            </a:xfrm>
            <a:custGeom>
              <a:avLst/>
              <a:gdLst/>
              <a:ahLst/>
              <a:cxnLst/>
              <a:rect l="l" t="t" r="r" b="b"/>
              <a:pathLst>
                <a:path w="1309003" h="12543">
                  <a:moveTo>
                    <a:pt x="6272" y="0"/>
                  </a:moveTo>
                  <a:lnTo>
                    <a:pt x="1302731" y="0"/>
                  </a:lnTo>
                  <a:cubicBezTo>
                    <a:pt x="1304395" y="0"/>
                    <a:pt x="1305990" y="661"/>
                    <a:pt x="1307166" y="1837"/>
                  </a:cubicBezTo>
                  <a:cubicBezTo>
                    <a:pt x="1308342" y="3013"/>
                    <a:pt x="1309003" y="4608"/>
                    <a:pt x="1309003" y="6272"/>
                  </a:cubicBezTo>
                  <a:lnTo>
                    <a:pt x="1309003" y="6272"/>
                  </a:lnTo>
                  <a:cubicBezTo>
                    <a:pt x="1309003" y="7935"/>
                    <a:pt x="1308342" y="9530"/>
                    <a:pt x="1307166" y="10706"/>
                  </a:cubicBezTo>
                  <a:cubicBezTo>
                    <a:pt x="1305990" y="11882"/>
                    <a:pt x="1304395" y="12543"/>
                    <a:pt x="1302731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FFF7DD"/>
            </a:solidFill>
          </p:spPr>
          <p:txBody>
            <a:bodyPr/>
            <a:lstStyle/>
            <a:p>
              <a:endParaRPr lang="en-FI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1309003" cy="79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089437" y="5808682"/>
            <a:ext cx="5828008" cy="3515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Traditional search is slow because it requires manual filtering and reviewing many profiles.</a:t>
            </a: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This system allows users to speak their requirements, and the AI automatically finds, ranks, and explains the best candidates, saving time and improving accuracy.</a:t>
            </a:r>
          </a:p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7D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089437" y="4954689"/>
            <a:ext cx="6188013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Voice-based candidate search using AI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541211" y="3291157"/>
            <a:ext cx="6276467" cy="1090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9"/>
              </a:lnSpc>
              <a:spcBef>
                <a:spcPct val="0"/>
              </a:spcBef>
            </a:pPr>
            <a:r>
              <a:rPr lang="en-US" sz="2049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make recruitment easier by combining voice recognition, smart candidate matching, and automated delivery through different channels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89437" y="1881590"/>
            <a:ext cx="5468003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Speaking predates writing.</a:t>
            </a:r>
          </a:p>
        </p:txBody>
      </p:sp>
      <p:sp>
        <p:nvSpPr>
          <p:cNvPr id="32" name="Freeform 32"/>
          <p:cNvSpPr/>
          <p:nvPr/>
        </p:nvSpPr>
        <p:spPr>
          <a:xfrm>
            <a:off x="1172697" y="4978664"/>
            <a:ext cx="272562" cy="277609"/>
          </a:xfrm>
          <a:custGeom>
            <a:avLst/>
            <a:gdLst/>
            <a:ahLst/>
            <a:cxnLst/>
            <a:rect l="l" t="t" r="r" b="b"/>
            <a:pathLst>
              <a:path w="272562" h="277609">
                <a:moveTo>
                  <a:pt x="0" y="0"/>
                </a:moveTo>
                <a:lnTo>
                  <a:pt x="272562" y="0"/>
                </a:lnTo>
                <a:lnTo>
                  <a:pt x="272562" y="277610"/>
                </a:lnTo>
                <a:lnTo>
                  <a:pt x="0" y="277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sp>
        <p:nvSpPr>
          <p:cNvPr id="33" name="Freeform 33"/>
          <p:cNvSpPr/>
          <p:nvPr/>
        </p:nvSpPr>
        <p:spPr>
          <a:xfrm>
            <a:off x="1172697" y="1762775"/>
            <a:ext cx="272562" cy="277609"/>
          </a:xfrm>
          <a:custGeom>
            <a:avLst/>
            <a:gdLst/>
            <a:ahLst/>
            <a:cxnLst/>
            <a:rect l="l" t="t" r="r" b="b"/>
            <a:pathLst>
              <a:path w="272562" h="277609">
                <a:moveTo>
                  <a:pt x="0" y="0"/>
                </a:moveTo>
                <a:lnTo>
                  <a:pt x="272562" y="0"/>
                </a:lnTo>
                <a:lnTo>
                  <a:pt x="272562" y="277609"/>
                </a:lnTo>
                <a:lnTo>
                  <a:pt x="0" y="2776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sp>
        <p:nvSpPr>
          <p:cNvPr id="34" name="Freeform 34"/>
          <p:cNvSpPr/>
          <p:nvPr/>
        </p:nvSpPr>
        <p:spPr>
          <a:xfrm>
            <a:off x="10154027" y="3133487"/>
            <a:ext cx="272562" cy="277609"/>
          </a:xfrm>
          <a:custGeom>
            <a:avLst/>
            <a:gdLst/>
            <a:ahLst/>
            <a:cxnLst/>
            <a:rect l="l" t="t" r="r" b="b"/>
            <a:pathLst>
              <a:path w="272562" h="277609">
                <a:moveTo>
                  <a:pt x="0" y="0"/>
                </a:moveTo>
                <a:lnTo>
                  <a:pt x="272562" y="0"/>
                </a:lnTo>
                <a:lnTo>
                  <a:pt x="272562" y="277609"/>
                </a:lnTo>
                <a:lnTo>
                  <a:pt x="0" y="2776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grpSp>
        <p:nvGrpSpPr>
          <p:cNvPr id="35" name="Group 35"/>
          <p:cNvGrpSpPr/>
          <p:nvPr/>
        </p:nvGrpSpPr>
        <p:grpSpPr>
          <a:xfrm>
            <a:off x="11543745" y="8635027"/>
            <a:ext cx="3670714" cy="608535"/>
            <a:chOff x="0" y="0"/>
            <a:chExt cx="4894286" cy="811380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4894286" cy="811380"/>
              <a:chOff x="0" y="0"/>
              <a:chExt cx="891083" cy="1477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91083" cy="147725"/>
              </a:xfrm>
              <a:custGeom>
                <a:avLst/>
                <a:gdLst/>
                <a:ahLst/>
                <a:cxnLst/>
                <a:rect l="l" t="t" r="r" b="b"/>
                <a:pathLst>
                  <a:path w="891083" h="147725">
                    <a:moveTo>
                      <a:pt x="73862" y="0"/>
                    </a:moveTo>
                    <a:lnTo>
                      <a:pt x="817220" y="0"/>
                    </a:lnTo>
                    <a:cubicBezTo>
                      <a:pt x="836810" y="0"/>
                      <a:pt x="855597" y="7782"/>
                      <a:pt x="869449" y="21634"/>
                    </a:cubicBezTo>
                    <a:cubicBezTo>
                      <a:pt x="883301" y="35486"/>
                      <a:pt x="891083" y="54273"/>
                      <a:pt x="891083" y="73862"/>
                    </a:cubicBezTo>
                    <a:lnTo>
                      <a:pt x="891083" y="73862"/>
                    </a:lnTo>
                    <a:cubicBezTo>
                      <a:pt x="891083" y="114655"/>
                      <a:pt x="858013" y="147725"/>
                      <a:pt x="817220" y="147725"/>
                    </a:cubicBezTo>
                    <a:lnTo>
                      <a:pt x="73862" y="147725"/>
                    </a:lnTo>
                    <a:cubicBezTo>
                      <a:pt x="33069" y="147725"/>
                      <a:pt x="0" y="114655"/>
                      <a:pt x="0" y="73862"/>
                    </a:cubicBezTo>
                    <a:lnTo>
                      <a:pt x="0" y="73862"/>
                    </a:lnTo>
                    <a:cubicBezTo>
                      <a:pt x="0" y="33069"/>
                      <a:pt x="33069" y="0"/>
                      <a:pt x="73862" y="0"/>
                    </a:cubicBezTo>
                    <a:close/>
                  </a:path>
                </a:pathLst>
              </a:custGeom>
              <a:solidFill>
                <a:srgbClr val="4B3843"/>
              </a:solidFill>
              <a:ln w="28575" cap="rnd">
                <a:gradFill>
                  <a:gsLst>
                    <a:gs pos="0">
                      <a:srgbClr val="FD01FD">
                        <a:alpha val="100000"/>
                      </a:srgbClr>
                    </a:gs>
                    <a:gs pos="100000">
                      <a:srgbClr val="FCCF37">
                        <a:alpha val="100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en-FI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66675"/>
                <a:ext cx="891083" cy="214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363279" y="205665"/>
              <a:ext cx="3333731" cy="352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FFF7DD"/>
                  </a:solidFill>
                  <a:latin typeface="Poppins"/>
                  <a:ea typeface="Poppins"/>
                  <a:cs typeface="Poppins"/>
                  <a:sym typeface="Poppins"/>
                </a:rPr>
                <a:t>Tap Here to Start With Us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4119543" y="72881"/>
              <a:ext cx="665617" cy="665617"/>
              <a:chOff x="0" y="0"/>
              <a:chExt cx="812800" cy="8128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D01FD">
                      <a:alpha val="100000"/>
                    </a:srgbClr>
                  </a:gs>
                  <a:gs pos="100000">
                    <a:srgbClr val="FCCF37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FI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43" name="Freeform 43"/>
            <p:cNvSpPr/>
            <p:nvPr/>
          </p:nvSpPr>
          <p:spPr>
            <a:xfrm>
              <a:off x="4342461" y="249110"/>
              <a:ext cx="219781" cy="313159"/>
            </a:xfrm>
            <a:custGeom>
              <a:avLst/>
              <a:gdLst/>
              <a:ahLst/>
              <a:cxnLst/>
              <a:rect l="l" t="t" r="r" b="b"/>
              <a:pathLst>
                <a:path w="219781" h="313159">
                  <a:moveTo>
                    <a:pt x="0" y="0"/>
                  </a:moveTo>
                  <a:lnTo>
                    <a:pt x="219781" y="0"/>
                  </a:lnTo>
                  <a:lnTo>
                    <a:pt x="219781" y="313159"/>
                  </a:lnTo>
                  <a:lnTo>
                    <a:pt x="0" y="313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FI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0336" y="1168480"/>
            <a:ext cx="15187329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40"/>
              </a:lnSpc>
            </a:pPr>
            <a:r>
              <a:rPr lang="en-US" sz="6200" b="1">
                <a:solidFill>
                  <a:srgbClr val="FFF7D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Breaking down the process behind seamless voice interaction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7922" y="4740125"/>
            <a:ext cx="3963184" cy="4925838"/>
            <a:chOff x="0" y="0"/>
            <a:chExt cx="962081" cy="11957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2081" cy="1195769"/>
            </a:xfrm>
            <a:custGeom>
              <a:avLst/>
              <a:gdLst/>
              <a:ahLst/>
              <a:cxnLst/>
              <a:rect l="l" t="t" r="r" b="b"/>
              <a:pathLst>
                <a:path w="962081" h="1195769">
                  <a:moveTo>
                    <a:pt x="68371" y="0"/>
                  </a:moveTo>
                  <a:lnTo>
                    <a:pt x="893710" y="0"/>
                  </a:lnTo>
                  <a:cubicBezTo>
                    <a:pt x="911843" y="0"/>
                    <a:pt x="929233" y="7203"/>
                    <a:pt x="942056" y="20025"/>
                  </a:cubicBezTo>
                  <a:cubicBezTo>
                    <a:pt x="954878" y="32847"/>
                    <a:pt x="962081" y="50238"/>
                    <a:pt x="962081" y="68371"/>
                  </a:cubicBezTo>
                  <a:lnTo>
                    <a:pt x="962081" y="1127398"/>
                  </a:lnTo>
                  <a:cubicBezTo>
                    <a:pt x="962081" y="1165159"/>
                    <a:pt x="931470" y="1195769"/>
                    <a:pt x="893710" y="1195769"/>
                  </a:cubicBezTo>
                  <a:lnTo>
                    <a:pt x="68371" y="1195769"/>
                  </a:lnTo>
                  <a:cubicBezTo>
                    <a:pt x="50238" y="1195769"/>
                    <a:pt x="32847" y="1188566"/>
                    <a:pt x="20025" y="1175744"/>
                  </a:cubicBezTo>
                  <a:cubicBezTo>
                    <a:pt x="7203" y="1162922"/>
                    <a:pt x="0" y="1145532"/>
                    <a:pt x="0" y="1127398"/>
                  </a:cubicBezTo>
                  <a:lnTo>
                    <a:pt x="0" y="68371"/>
                  </a:lnTo>
                  <a:cubicBezTo>
                    <a:pt x="0" y="50238"/>
                    <a:pt x="7203" y="32847"/>
                    <a:pt x="20025" y="20025"/>
                  </a:cubicBezTo>
                  <a:cubicBezTo>
                    <a:pt x="32847" y="7203"/>
                    <a:pt x="50238" y="0"/>
                    <a:pt x="68371" y="0"/>
                  </a:cubicBezTo>
                  <a:close/>
                </a:path>
              </a:pathLst>
            </a:custGeom>
            <a:solidFill>
              <a:srgbClr val="4B3843"/>
            </a:solidFill>
            <a:ln w="28575" cap="rnd">
              <a:gradFill>
                <a:gsLst>
                  <a:gs pos="0">
                    <a:srgbClr val="FD01FD">
                      <a:alpha val="100000"/>
                    </a:srgbClr>
                  </a:gs>
                  <a:gs pos="100000">
                    <a:srgbClr val="FCCF3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962081" cy="1262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988541" y="4740125"/>
            <a:ext cx="3963184" cy="4925838"/>
            <a:chOff x="0" y="0"/>
            <a:chExt cx="962081" cy="11957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62081" cy="1195769"/>
            </a:xfrm>
            <a:custGeom>
              <a:avLst/>
              <a:gdLst/>
              <a:ahLst/>
              <a:cxnLst/>
              <a:rect l="l" t="t" r="r" b="b"/>
              <a:pathLst>
                <a:path w="962081" h="1195769">
                  <a:moveTo>
                    <a:pt x="68371" y="0"/>
                  </a:moveTo>
                  <a:lnTo>
                    <a:pt x="893710" y="0"/>
                  </a:lnTo>
                  <a:cubicBezTo>
                    <a:pt x="911843" y="0"/>
                    <a:pt x="929233" y="7203"/>
                    <a:pt x="942056" y="20025"/>
                  </a:cubicBezTo>
                  <a:cubicBezTo>
                    <a:pt x="954878" y="32847"/>
                    <a:pt x="962081" y="50238"/>
                    <a:pt x="962081" y="68371"/>
                  </a:cubicBezTo>
                  <a:lnTo>
                    <a:pt x="962081" y="1127398"/>
                  </a:lnTo>
                  <a:cubicBezTo>
                    <a:pt x="962081" y="1165159"/>
                    <a:pt x="931470" y="1195769"/>
                    <a:pt x="893710" y="1195769"/>
                  </a:cubicBezTo>
                  <a:lnTo>
                    <a:pt x="68371" y="1195769"/>
                  </a:lnTo>
                  <a:cubicBezTo>
                    <a:pt x="50238" y="1195769"/>
                    <a:pt x="32847" y="1188566"/>
                    <a:pt x="20025" y="1175744"/>
                  </a:cubicBezTo>
                  <a:cubicBezTo>
                    <a:pt x="7203" y="1162922"/>
                    <a:pt x="0" y="1145532"/>
                    <a:pt x="0" y="1127398"/>
                  </a:cubicBezTo>
                  <a:lnTo>
                    <a:pt x="0" y="68371"/>
                  </a:lnTo>
                  <a:cubicBezTo>
                    <a:pt x="0" y="50238"/>
                    <a:pt x="7203" y="32847"/>
                    <a:pt x="20025" y="20025"/>
                  </a:cubicBezTo>
                  <a:cubicBezTo>
                    <a:pt x="32847" y="7203"/>
                    <a:pt x="50238" y="0"/>
                    <a:pt x="68371" y="0"/>
                  </a:cubicBezTo>
                  <a:close/>
                </a:path>
              </a:pathLst>
            </a:custGeom>
            <a:solidFill>
              <a:srgbClr val="4B3843"/>
            </a:solidFill>
            <a:ln w="28575" cap="rnd">
              <a:gradFill>
                <a:gsLst>
                  <a:gs pos="0">
                    <a:srgbClr val="FD01FD">
                      <a:alpha val="100000"/>
                    </a:srgbClr>
                  </a:gs>
                  <a:gs pos="100000">
                    <a:srgbClr val="FCCF3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962081" cy="1262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09160" y="4740125"/>
            <a:ext cx="3963184" cy="4925838"/>
            <a:chOff x="0" y="0"/>
            <a:chExt cx="962081" cy="11957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62081" cy="1195769"/>
            </a:xfrm>
            <a:custGeom>
              <a:avLst/>
              <a:gdLst/>
              <a:ahLst/>
              <a:cxnLst/>
              <a:rect l="l" t="t" r="r" b="b"/>
              <a:pathLst>
                <a:path w="962081" h="1195769">
                  <a:moveTo>
                    <a:pt x="68371" y="0"/>
                  </a:moveTo>
                  <a:lnTo>
                    <a:pt x="893710" y="0"/>
                  </a:lnTo>
                  <a:cubicBezTo>
                    <a:pt x="911843" y="0"/>
                    <a:pt x="929233" y="7203"/>
                    <a:pt x="942056" y="20025"/>
                  </a:cubicBezTo>
                  <a:cubicBezTo>
                    <a:pt x="954878" y="32847"/>
                    <a:pt x="962081" y="50238"/>
                    <a:pt x="962081" y="68371"/>
                  </a:cubicBezTo>
                  <a:lnTo>
                    <a:pt x="962081" y="1127398"/>
                  </a:lnTo>
                  <a:cubicBezTo>
                    <a:pt x="962081" y="1165159"/>
                    <a:pt x="931470" y="1195769"/>
                    <a:pt x="893710" y="1195769"/>
                  </a:cubicBezTo>
                  <a:lnTo>
                    <a:pt x="68371" y="1195769"/>
                  </a:lnTo>
                  <a:cubicBezTo>
                    <a:pt x="50238" y="1195769"/>
                    <a:pt x="32847" y="1188566"/>
                    <a:pt x="20025" y="1175744"/>
                  </a:cubicBezTo>
                  <a:cubicBezTo>
                    <a:pt x="7203" y="1162922"/>
                    <a:pt x="0" y="1145532"/>
                    <a:pt x="0" y="1127398"/>
                  </a:cubicBezTo>
                  <a:lnTo>
                    <a:pt x="0" y="68371"/>
                  </a:lnTo>
                  <a:cubicBezTo>
                    <a:pt x="0" y="50238"/>
                    <a:pt x="7203" y="32847"/>
                    <a:pt x="20025" y="20025"/>
                  </a:cubicBezTo>
                  <a:cubicBezTo>
                    <a:pt x="32847" y="7203"/>
                    <a:pt x="50238" y="0"/>
                    <a:pt x="68371" y="0"/>
                  </a:cubicBezTo>
                  <a:close/>
                </a:path>
              </a:pathLst>
            </a:custGeom>
            <a:solidFill>
              <a:srgbClr val="4B3843"/>
            </a:solidFill>
            <a:ln w="28575" cap="rnd">
              <a:gradFill>
                <a:gsLst>
                  <a:gs pos="0">
                    <a:srgbClr val="FD01FD">
                      <a:alpha val="100000"/>
                    </a:srgbClr>
                  </a:gs>
                  <a:gs pos="100000">
                    <a:srgbClr val="FCCF3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962081" cy="1262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34294" y="4737907"/>
            <a:ext cx="3963184" cy="4925838"/>
            <a:chOff x="0" y="0"/>
            <a:chExt cx="962081" cy="11957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2081" cy="1195769"/>
            </a:xfrm>
            <a:custGeom>
              <a:avLst/>
              <a:gdLst/>
              <a:ahLst/>
              <a:cxnLst/>
              <a:rect l="l" t="t" r="r" b="b"/>
              <a:pathLst>
                <a:path w="962081" h="1195769">
                  <a:moveTo>
                    <a:pt x="68371" y="0"/>
                  </a:moveTo>
                  <a:lnTo>
                    <a:pt x="893710" y="0"/>
                  </a:lnTo>
                  <a:cubicBezTo>
                    <a:pt x="911843" y="0"/>
                    <a:pt x="929233" y="7203"/>
                    <a:pt x="942056" y="20025"/>
                  </a:cubicBezTo>
                  <a:cubicBezTo>
                    <a:pt x="954878" y="32847"/>
                    <a:pt x="962081" y="50238"/>
                    <a:pt x="962081" y="68371"/>
                  </a:cubicBezTo>
                  <a:lnTo>
                    <a:pt x="962081" y="1127398"/>
                  </a:lnTo>
                  <a:cubicBezTo>
                    <a:pt x="962081" y="1165159"/>
                    <a:pt x="931470" y="1195769"/>
                    <a:pt x="893710" y="1195769"/>
                  </a:cubicBezTo>
                  <a:lnTo>
                    <a:pt x="68371" y="1195769"/>
                  </a:lnTo>
                  <a:cubicBezTo>
                    <a:pt x="50238" y="1195769"/>
                    <a:pt x="32847" y="1188566"/>
                    <a:pt x="20025" y="1175744"/>
                  </a:cubicBezTo>
                  <a:cubicBezTo>
                    <a:pt x="7203" y="1162922"/>
                    <a:pt x="0" y="1145532"/>
                    <a:pt x="0" y="1127398"/>
                  </a:cubicBezTo>
                  <a:lnTo>
                    <a:pt x="0" y="68371"/>
                  </a:lnTo>
                  <a:cubicBezTo>
                    <a:pt x="0" y="50238"/>
                    <a:pt x="7203" y="32847"/>
                    <a:pt x="20025" y="20025"/>
                  </a:cubicBezTo>
                  <a:cubicBezTo>
                    <a:pt x="32847" y="7203"/>
                    <a:pt x="50238" y="0"/>
                    <a:pt x="68371" y="0"/>
                  </a:cubicBezTo>
                  <a:close/>
                </a:path>
              </a:pathLst>
            </a:custGeom>
            <a:solidFill>
              <a:srgbClr val="4B3843"/>
            </a:solidFill>
            <a:ln w="28575" cap="rnd">
              <a:gradFill>
                <a:gsLst>
                  <a:gs pos="0">
                    <a:srgbClr val="FD01FD">
                      <a:alpha val="100000"/>
                    </a:srgbClr>
                  </a:gs>
                  <a:gs pos="100000">
                    <a:srgbClr val="FCCF3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962081" cy="1262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994367" y="4834417"/>
            <a:ext cx="541966" cy="541966"/>
            <a:chOff x="0" y="0"/>
            <a:chExt cx="722621" cy="722621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722621" cy="722621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D01FD">
                      <a:alpha val="100000"/>
                    </a:srgbClr>
                  </a:gs>
                  <a:gs pos="100000">
                    <a:srgbClr val="FCCF37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FI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179603" y="176238"/>
              <a:ext cx="363416" cy="370146"/>
            </a:xfrm>
            <a:custGeom>
              <a:avLst/>
              <a:gdLst/>
              <a:ahLst/>
              <a:cxnLst/>
              <a:rect l="l" t="t" r="r" b="b"/>
              <a:pathLst>
                <a:path w="363416" h="370146">
                  <a:moveTo>
                    <a:pt x="0" y="0"/>
                  </a:moveTo>
                  <a:lnTo>
                    <a:pt x="363416" y="0"/>
                  </a:lnTo>
                  <a:lnTo>
                    <a:pt x="363416" y="370146"/>
                  </a:lnTo>
                  <a:lnTo>
                    <a:pt x="0" y="370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FI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317181" y="4834417"/>
            <a:ext cx="541966" cy="541966"/>
            <a:chOff x="0" y="0"/>
            <a:chExt cx="722621" cy="722621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722621" cy="722621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D01FD">
                      <a:alpha val="100000"/>
                    </a:srgbClr>
                  </a:gs>
                  <a:gs pos="100000">
                    <a:srgbClr val="FCCF37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FI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179603" y="176238"/>
              <a:ext cx="363416" cy="370146"/>
            </a:xfrm>
            <a:custGeom>
              <a:avLst/>
              <a:gdLst/>
              <a:ahLst/>
              <a:cxnLst/>
              <a:rect l="l" t="t" r="r" b="b"/>
              <a:pathLst>
                <a:path w="363416" h="370146">
                  <a:moveTo>
                    <a:pt x="0" y="0"/>
                  </a:moveTo>
                  <a:lnTo>
                    <a:pt x="363416" y="0"/>
                  </a:lnTo>
                  <a:lnTo>
                    <a:pt x="363416" y="370146"/>
                  </a:lnTo>
                  <a:lnTo>
                    <a:pt x="0" y="370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FI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637900" y="4834417"/>
            <a:ext cx="541966" cy="541966"/>
            <a:chOff x="0" y="0"/>
            <a:chExt cx="722621" cy="722621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722621" cy="722621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D01FD">
                      <a:alpha val="100000"/>
                    </a:srgbClr>
                  </a:gs>
                  <a:gs pos="100000">
                    <a:srgbClr val="FCCF37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FI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179603" y="176238"/>
              <a:ext cx="363416" cy="370146"/>
            </a:xfrm>
            <a:custGeom>
              <a:avLst/>
              <a:gdLst/>
              <a:ahLst/>
              <a:cxnLst/>
              <a:rect l="l" t="t" r="r" b="b"/>
              <a:pathLst>
                <a:path w="363416" h="370146">
                  <a:moveTo>
                    <a:pt x="0" y="0"/>
                  </a:moveTo>
                  <a:lnTo>
                    <a:pt x="363416" y="0"/>
                  </a:lnTo>
                  <a:lnTo>
                    <a:pt x="363416" y="370146"/>
                  </a:lnTo>
                  <a:lnTo>
                    <a:pt x="0" y="370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FI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958519" y="4834417"/>
            <a:ext cx="541966" cy="541966"/>
            <a:chOff x="0" y="0"/>
            <a:chExt cx="722621" cy="722621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722621" cy="722621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D01FD">
                      <a:alpha val="100000"/>
                    </a:srgbClr>
                  </a:gs>
                  <a:gs pos="100000">
                    <a:srgbClr val="FCCF37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FI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34" name="Freeform 34"/>
            <p:cNvSpPr/>
            <p:nvPr/>
          </p:nvSpPr>
          <p:spPr>
            <a:xfrm>
              <a:off x="179603" y="176238"/>
              <a:ext cx="363416" cy="370146"/>
            </a:xfrm>
            <a:custGeom>
              <a:avLst/>
              <a:gdLst/>
              <a:ahLst/>
              <a:cxnLst/>
              <a:rect l="l" t="t" r="r" b="b"/>
              <a:pathLst>
                <a:path w="363416" h="370146">
                  <a:moveTo>
                    <a:pt x="0" y="0"/>
                  </a:moveTo>
                  <a:lnTo>
                    <a:pt x="363416" y="0"/>
                  </a:lnTo>
                  <a:lnTo>
                    <a:pt x="363416" y="370146"/>
                  </a:lnTo>
                  <a:lnTo>
                    <a:pt x="0" y="370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FI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31190" y="5626029"/>
            <a:ext cx="323665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Voice Capture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351514" y="5426004"/>
            <a:ext cx="3236650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Language Understanding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674328" y="5626029"/>
            <a:ext cx="323665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Decision &amp; Action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997142" y="5626029"/>
            <a:ext cx="323665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Response</a:t>
            </a:r>
          </a:p>
        </p:txBody>
      </p:sp>
      <p:sp>
        <p:nvSpPr>
          <p:cNvPr id="39" name="Freeform 39"/>
          <p:cNvSpPr/>
          <p:nvPr/>
        </p:nvSpPr>
        <p:spPr>
          <a:xfrm>
            <a:off x="1028700" y="7203044"/>
            <a:ext cx="241324" cy="228600"/>
          </a:xfrm>
          <a:custGeom>
            <a:avLst/>
            <a:gdLst/>
            <a:ahLst/>
            <a:cxnLst/>
            <a:rect l="l" t="t" r="r" b="b"/>
            <a:pathLst>
              <a:path w="241324" h="228600">
                <a:moveTo>
                  <a:pt x="0" y="0"/>
                </a:moveTo>
                <a:lnTo>
                  <a:pt x="241324" y="0"/>
                </a:lnTo>
                <a:lnTo>
                  <a:pt x="241324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sp>
        <p:nvSpPr>
          <p:cNvPr id="40" name="TextBox 40"/>
          <p:cNvSpPr txBox="1"/>
          <p:nvPr/>
        </p:nvSpPr>
        <p:spPr>
          <a:xfrm>
            <a:off x="1550336" y="7735335"/>
            <a:ext cx="26707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 React frontend</a:t>
            </a:r>
          </a:p>
        </p:txBody>
      </p:sp>
      <p:sp>
        <p:nvSpPr>
          <p:cNvPr id="41" name="Freeform 41"/>
          <p:cNvSpPr/>
          <p:nvPr/>
        </p:nvSpPr>
        <p:spPr>
          <a:xfrm>
            <a:off x="1031190" y="7782960"/>
            <a:ext cx="241324" cy="228600"/>
          </a:xfrm>
          <a:custGeom>
            <a:avLst/>
            <a:gdLst/>
            <a:ahLst/>
            <a:cxnLst/>
            <a:rect l="l" t="t" r="r" b="b"/>
            <a:pathLst>
              <a:path w="241324" h="228600">
                <a:moveTo>
                  <a:pt x="0" y="0"/>
                </a:moveTo>
                <a:lnTo>
                  <a:pt x="241324" y="0"/>
                </a:lnTo>
                <a:lnTo>
                  <a:pt x="241324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sp>
        <p:nvSpPr>
          <p:cNvPr id="42" name="TextBox 42"/>
          <p:cNvSpPr txBox="1"/>
          <p:nvPr/>
        </p:nvSpPr>
        <p:spPr>
          <a:xfrm>
            <a:off x="1550336" y="7174469"/>
            <a:ext cx="26707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Voice input</a:t>
            </a:r>
          </a:p>
        </p:txBody>
      </p:sp>
      <p:sp>
        <p:nvSpPr>
          <p:cNvPr id="43" name="Freeform 43"/>
          <p:cNvSpPr/>
          <p:nvPr/>
        </p:nvSpPr>
        <p:spPr>
          <a:xfrm>
            <a:off x="5349319" y="7203044"/>
            <a:ext cx="241324" cy="228600"/>
          </a:xfrm>
          <a:custGeom>
            <a:avLst/>
            <a:gdLst/>
            <a:ahLst/>
            <a:cxnLst/>
            <a:rect l="l" t="t" r="r" b="b"/>
            <a:pathLst>
              <a:path w="241324" h="228600">
                <a:moveTo>
                  <a:pt x="0" y="0"/>
                </a:moveTo>
                <a:lnTo>
                  <a:pt x="241324" y="0"/>
                </a:lnTo>
                <a:lnTo>
                  <a:pt x="241324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sp>
        <p:nvSpPr>
          <p:cNvPr id="44" name="TextBox 44"/>
          <p:cNvSpPr txBox="1"/>
          <p:nvPr/>
        </p:nvSpPr>
        <p:spPr>
          <a:xfrm>
            <a:off x="5872078" y="7155419"/>
            <a:ext cx="26707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using Whisper for transcription</a:t>
            </a:r>
          </a:p>
        </p:txBody>
      </p:sp>
      <p:sp>
        <p:nvSpPr>
          <p:cNvPr id="45" name="Freeform 45"/>
          <p:cNvSpPr/>
          <p:nvPr/>
        </p:nvSpPr>
        <p:spPr>
          <a:xfrm>
            <a:off x="5399915" y="8011560"/>
            <a:ext cx="241324" cy="228600"/>
          </a:xfrm>
          <a:custGeom>
            <a:avLst/>
            <a:gdLst/>
            <a:ahLst/>
            <a:cxnLst/>
            <a:rect l="l" t="t" r="r" b="b"/>
            <a:pathLst>
              <a:path w="241324" h="228600">
                <a:moveTo>
                  <a:pt x="0" y="0"/>
                </a:moveTo>
                <a:lnTo>
                  <a:pt x="241324" y="0"/>
                </a:lnTo>
                <a:lnTo>
                  <a:pt x="241324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sp>
        <p:nvSpPr>
          <p:cNvPr id="46" name="TextBox 46"/>
          <p:cNvSpPr txBox="1"/>
          <p:nvPr/>
        </p:nvSpPr>
        <p:spPr>
          <a:xfrm>
            <a:off x="5917464" y="7915201"/>
            <a:ext cx="267070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parsed to extract parameters such as industry, salary</a:t>
            </a:r>
          </a:p>
        </p:txBody>
      </p:sp>
      <p:sp>
        <p:nvSpPr>
          <p:cNvPr id="47" name="Freeform 47"/>
          <p:cNvSpPr/>
          <p:nvPr/>
        </p:nvSpPr>
        <p:spPr>
          <a:xfrm>
            <a:off x="9713725" y="7257976"/>
            <a:ext cx="241324" cy="228600"/>
          </a:xfrm>
          <a:custGeom>
            <a:avLst/>
            <a:gdLst/>
            <a:ahLst/>
            <a:cxnLst/>
            <a:rect l="l" t="t" r="r" b="b"/>
            <a:pathLst>
              <a:path w="241324" h="228600">
                <a:moveTo>
                  <a:pt x="0" y="0"/>
                </a:moveTo>
                <a:lnTo>
                  <a:pt x="241325" y="0"/>
                </a:lnTo>
                <a:lnTo>
                  <a:pt x="2413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sp>
        <p:nvSpPr>
          <p:cNvPr id="48" name="TextBox 48"/>
          <p:cNvSpPr txBox="1"/>
          <p:nvPr/>
        </p:nvSpPr>
        <p:spPr>
          <a:xfrm>
            <a:off x="10240800" y="7153201"/>
            <a:ext cx="267070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uses Qdrant vector database for semantic search</a:t>
            </a:r>
          </a:p>
        </p:txBody>
      </p:sp>
      <p:sp>
        <p:nvSpPr>
          <p:cNvPr id="49" name="Freeform 49"/>
          <p:cNvSpPr/>
          <p:nvPr/>
        </p:nvSpPr>
        <p:spPr>
          <a:xfrm>
            <a:off x="9713725" y="8048551"/>
            <a:ext cx="241324" cy="228600"/>
          </a:xfrm>
          <a:custGeom>
            <a:avLst/>
            <a:gdLst/>
            <a:ahLst/>
            <a:cxnLst/>
            <a:rect l="l" t="t" r="r" b="b"/>
            <a:pathLst>
              <a:path w="241324" h="228600">
                <a:moveTo>
                  <a:pt x="0" y="0"/>
                </a:moveTo>
                <a:lnTo>
                  <a:pt x="241325" y="0"/>
                </a:lnTo>
                <a:lnTo>
                  <a:pt x="2413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sp>
        <p:nvSpPr>
          <p:cNvPr id="50" name="Freeform 50"/>
          <p:cNvSpPr/>
          <p:nvPr/>
        </p:nvSpPr>
        <p:spPr>
          <a:xfrm>
            <a:off x="9723250" y="8867701"/>
            <a:ext cx="241324" cy="228600"/>
          </a:xfrm>
          <a:custGeom>
            <a:avLst/>
            <a:gdLst/>
            <a:ahLst/>
            <a:cxnLst/>
            <a:rect l="l" t="t" r="r" b="b"/>
            <a:pathLst>
              <a:path w="241324" h="228600">
                <a:moveTo>
                  <a:pt x="0" y="0"/>
                </a:moveTo>
                <a:lnTo>
                  <a:pt x="241325" y="0"/>
                </a:lnTo>
                <a:lnTo>
                  <a:pt x="2413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sp>
        <p:nvSpPr>
          <p:cNvPr id="51" name="TextBox 51"/>
          <p:cNvSpPr txBox="1"/>
          <p:nvPr/>
        </p:nvSpPr>
        <p:spPr>
          <a:xfrm>
            <a:off x="10231275" y="8048551"/>
            <a:ext cx="26707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ranks candidates by experience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182619" y="8820076"/>
            <a:ext cx="26707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generates AI explanations using Gemini</a:t>
            </a:r>
          </a:p>
        </p:txBody>
      </p:sp>
      <p:sp>
        <p:nvSpPr>
          <p:cNvPr id="53" name="Freeform 53"/>
          <p:cNvSpPr/>
          <p:nvPr/>
        </p:nvSpPr>
        <p:spPr>
          <a:xfrm>
            <a:off x="13997142" y="7203044"/>
            <a:ext cx="241324" cy="228600"/>
          </a:xfrm>
          <a:custGeom>
            <a:avLst/>
            <a:gdLst/>
            <a:ahLst/>
            <a:cxnLst/>
            <a:rect l="l" t="t" r="r" b="b"/>
            <a:pathLst>
              <a:path w="241324" h="228600">
                <a:moveTo>
                  <a:pt x="0" y="0"/>
                </a:moveTo>
                <a:lnTo>
                  <a:pt x="241325" y="0"/>
                </a:lnTo>
                <a:lnTo>
                  <a:pt x="2413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sp>
        <p:nvSpPr>
          <p:cNvPr id="54" name="TextBox 54"/>
          <p:cNvSpPr txBox="1"/>
          <p:nvPr/>
        </p:nvSpPr>
        <p:spPr>
          <a:xfrm>
            <a:off x="14519901" y="7155419"/>
            <a:ext cx="26707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results delivered via Email or Slack 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936627" y="6469944"/>
            <a:ext cx="3057740" cy="47625"/>
            <a:chOff x="0" y="0"/>
            <a:chExt cx="805331" cy="1254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05331" cy="12543"/>
            </a:xfrm>
            <a:custGeom>
              <a:avLst/>
              <a:gdLst/>
              <a:ahLst/>
              <a:cxnLst/>
              <a:rect l="l" t="t" r="r" b="b"/>
              <a:pathLst>
                <a:path w="805331" h="12543">
                  <a:moveTo>
                    <a:pt x="6272" y="0"/>
                  </a:moveTo>
                  <a:lnTo>
                    <a:pt x="799059" y="0"/>
                  </a:lnTo>
                  <a:cubicBezTo>
                    <a:pt x="800722" y="0"/>
                    <a:pt x="802318" y="661"/>
                    <a:pt x="803494" y="1837"/>
                  </a:cubicBezTo>
                  <a:cubicBezTo>
                    <a:pt x="804670" y="3013"/>
                    <a:pt x="805331" y="4608"/>
                    <a:pt x="805331" y="6272"/>
                  </a:cubicBezTo>
                  <a:lnTo>
                    <a:pt x="805331" y="6272"/>
                  </a:lnTo>
                  <a:cubicBezTo>
                    <a:pt x="805331" y="7935"/>
                    <a:pt x="804670" y="9530"/>
                    <a:pt x="803494" y="10706"/>
                  </a:cubicBezTo>
                  <a:cubicBezTo>
                    <a:pt x="802318" y="11882"/>
                    <a:pt x="800722" y="12543"/>
                    <a:pt x="799059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D01FD">
                    <a:alpha val="100000"/>
                  </a:srgbClr>
                </a:gs>
                <a:gs pos="100000">
                  <a:srgbClr val="FCCF3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FI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66675"/>
              <a:ext cx="805331" cy="79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354298" y="6427406"/>
            <a:ext cx="3057740" cy="66350"/>
            <a:chOff x="0" y="0"/>
            <a:chExt cx="805331" cy="17475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05331" cy="17475"/>
            </a:xfrm>
            <a:custGeom>
              <a:avLst/>
              <a:gdLst/>
              <a:ahLst/>
              <a:cxnLst/>
              <a:rect l="l" t="t" r="r" b="b"/>
              <a:pathLst>
                <a:path w="805331" h="17475">
                  <a:moveTo>
                    <a:pt x="8737" y="0"/>
                  </a:moveTo>
                  <a:lnTo>
                    <a:pt x="796593" y="0"/>
                  </a:lnTo>
                  <a:cubicBezTo>
                    <a:pt x="798910" y="0"/>
                    <a:pt x="801133" y="921"/>
                    <a:pt x="802771" y="2559"/>
                  </a:cubicBezTo>
                  <a:cubicBezTo>
                    <a:pt x="804410" y="4198"/>
                    <a:pt x="805331" y="6420"/>
                    <a:pt x="805331" y="8737"/>
                  </a:cubicBezTo>
                  <a:lnTo>
                    <a:pt x="805331" y="8737"/>
                  </a:lnTo>
                  <a:cubicBezTo>
                    <a:pt x="805331" y="13563"/>
                    <a:pt x="801419" y="17475"/>
                    <a:pt x="796593" y="17475"/>
                  </a:cubicBezTo>
                  <a:lnTo>
                    <a:pt x="8737" y="17475"/>
                  </a:lnTo>
                  <a:cubicBezTo>
                    <a:pt x="6420" y="17475"/>
                    <a:pt x="4198" y="16554"/>
                    <a:pt x="2559" y="14916"/>
                  </a:cubicBezTo>
                  <a:cubicBezTo>
                    <a:pt x="921" y="13277"/>
                    <a:pt x="0" y="11055"/>
                    <a:pt x="0" y="8737"/>
                  </a:cubicBezTo>
                  <a:lnTo>
                    <a:pt x="0" y="8737"/>
                  </a:lnTo>
                  <a:cubicBezTo>
                    <a:pt x="0" y="6420"/>
                    <a:pt x="921" y="4198"/>
                    <a:pt x="2559" y="2559"/>
                  </a:cubicBezTo>
                  <a:cubicBezTo>
                    <a:pt x="4198" y="921"/>
                    <a:pt x="6420" y="0"/>
                    <a:pt x="873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D01FD">
                    <a:alpha val="100000"/>
                  </a:srgbClr>
                </a:gs>
                <a:gs pos="100000">
                  <a:srgbClr val="FCCF3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FI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66675"/>
              <a:ext cx="805331" cy="84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795579" y="6469944"/>
            <a:ext cx="3057740" cy="47625"/>
            <a:chOff x="0" y="0"/>
            <a:chExt cx="805331" cy="12543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05331" cy="12543"/>
            </a:xfrm>
            <a:custGeom>
              <a:avLst/>
              <a:gdLst/>
              <a:ahLst/>
              <a:cxnLst/>
              <a:rect l="l" t="t" r="r" b="b"/>
              <a:pathLst>
                <a:path w="805331" h="12543">
                  <a:moveTo>
                    <a:pt x="6272" y="0"/>
                  </a:moveTo>
                  <a:lnTo>
                    <a:pt x="799059" y="0"/>
                  </a:lnTo>
                  <a:cubicBezTo>
                    <a:pt x="800722" y="0"/>
                    <a:pt x="802318" y="661"/>
                    <a:pt x="803494" y="1837"/>
                  </a:cubicBezTo>
                  <a:cubicBezTo>
                    <a:pt x="804670" y="3013"/>
                    <a:pt x="805331" y="4608"/>
                    <a:pt x="805331" y="6272"/>
                  </a:cubicBezTo>
                  <a:lnTo>
                    <a:pt x="805331" y="6272"/>
                  </a:lnTo>
                  <a:cubicBezTo>
                    <a:pt x="805331" y="7935"/>
                    <a:pt x="804670" y="9530"/>
                    <a:pt x="803494" y="10706"/>
                  </a:cubicBezTo>
                  <a:cubicBezTo>
                    <a:pt x="802318" y="11882"/>
                    <a:pt x="800722" y="12543"/>
                    <a:pt x="799059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D01FD">
                    <a:alpha val="100000"/>
                  </a:srgbClr>
                </a:gs>
                <a:gs pos="100000">
                  <a:srgbClr val="FCCF3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FI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66675"/>
              <a:ext cx="805331" cy="79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4082501" y="6493756"/>
            <a:ext cx="3057740" cy="47625"/>
            <a:chOff x="0" y="0"/>
            <a:chExt cx="805331" cy="12543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05331" cy="12543"/>
            </a:xfrm>
            <a:custGeom>
              <a:avLst/>
              <a:gdLst/>
              <a:ahLst/>
              <a:cxnLst/>
              <a:rect l="l" t="t" r="r" b="b"/>
              <a:pathLst>
                <a:path w="805331" h="12543">
                  <a:moveTo>
                    <a:pt x="6272" y="0"/>
                  </a:moveTo>
                  <a:lnTo>
                    <a:pt x="799059" y="0"/>
                  </a:lnTo>
                  <a:cubicBezTo>
                    <a:pt x="800722" y="0"/>
                    <a:pt x="802318" y="661"/>
                    <a:pt x="803494" y="1837"/>
                  </a:cubicBezTo>
                  <a:cubicBezTo>
                    <a:pt x="804670" y="3013"/>
                    <a:pt x="805331" y="4608"/>
                    <a:pt x="805331" y="6272"/>
                  </a:cubicBezTo>
                  <a:lnTo>
                    <a:pt x="805331" y="6272"/>
                  </a:lnTo>
                  <a:cubicBezTo>
                    <a:pt x="805331" y="7935"/>
                    <a:pt x="804670" y="9530"/>
                    <a:pt x="803494" y="10706"/>
                  </a:cubicBezTo>
                  <a:cubicBezTo>
                    <a:pt x="802318" y="11882"/>
                    <a:pt x="800722" y="12543"/>
                    <a:pt x="799059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D01FD">
                    <a:alpha val="100000"/>
                  </a:srgbClr>
                </a:gs>
                <a:gs pos="100000">
                  <a:srgbClr val="FCCF37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FI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66675"/>
              <a:ext cx="805331" cy="79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872078" y="8934376"/>
            <a:ext cx="26707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FastAPI backend</a:t>
            </a:r>
          </a:p>
        </p:txBody>
      </p:sp>
      <p:sp>
        <p:nvSpPr>
          <p:cNvPr id="68" name="Freeform 68"/>
          <p:cNvSpPr/>
          <p:nvPr/>
        </p:nvSpPr>
        <p:spPr>
          <a:xfrm>
            <a:off x="5399915" y="8982001"/>
            <a:ext cx="241324" cy="228600"/>
          </a:xfrm>
          <a:custGeom>
            <a:avLst/>
            <a:gdLst/>
            <a:ahLst/>
            <a:cxnLst/>
            <a:rect l="l" t="t" r="r" b="b"/>
            <a:pathLst>
              <a:path w="241324" h="228600">
                <a:moveTo>
                  <a:pt x="0" y="0"/>
                </a:moveTo>
                <a:lnTo>
                  <a:pt x="241324" y="0"/>
                </a:lnTo>
                <a:lnTo>
                  <a:pt x="241324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sp>
        <p:nvSpPr>
          <p:cNvPr id="69" name="TextBox 69"/>
          <p:cNvSpPr txBox="1"/>
          <p:nvPr/>
        </p:nvSpPr>
        <p:spPr>
          <a:xfrm>
            <a:off x="14469542" y="8048551"/>
            <a:ext cx="26707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using N8N workflows</a:t>
            </a:r>
          </a:p>
        </p:txBody>
      </p:sp>
      <p:sp>
        <p:nvSpPr>
          <p:cNvPr id="70" name="Freeform 70"/>
          <p:cNvSpPr/>
          <p:nvPr/>
        </p:nvSpPr>
        <p:spPr>
          <a:xfrm>
            <a:off x="14034344" y="8125860"/>
            <a:ext cx="241324" cy="228600"/>
          </a:xfrm>
          <a:custGeom>
            <a:avLst/>
            <a:gdLst/>
            <a:ahLst/>
            <a:cxnLst/>
            <a:rect l="l" t="t" r="r" b="b"/>
            <a:pathLst>
              <a:path w="241324" h="228600">
                <a:moveTo>
                  <a:pt x="0" y="0"/>
                </a:moveTo>
                <a:lnTo>
                  <a:pt x="241325" y="0"/>
                </a:lnTo>
                <a:lnTo>
                  <a:pt x="2413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46298" y="4511990"/>
            <a:ext cx="1795404" cy="179540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3843">
                <a:alpha val="50980"/>
              </a:srgbClr>
            </a:solidFill>
            <a:ln w="9525" cap="sq">
              <a:gradFill>
                <a:gsLst>
                  <a:gs pos="0">
                    <a:srgbClr val="FD01FD">
                      <a:alpha val="51000"/>
                    </a:srgbClr>
                  </a:gs>
                  <a:gs pos="100000">
                    <a:srgbClr val="FCCF37">
                      <a:alpha val="51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25795" y="4691487"/>
            <a:ext cx="1436411" cy="143641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3843">
                <a:alpha val="80784"/>
              </a:srgbClr>
            </a:solidFill>
            <a:ln w="9525" cap="sq">
              <a:gradFill>
                <a:gsLst>
                  <a:gs pos="0">
                    <a:srgbClr val="FD01FD">
                      <a:alpha val="81000"/>
                    </a:srgbClr>
                  </a:gs>
                  <a:gs pos="100000">
                    <a:srgbClr val="FCCF37">
                      <a:alpha val="81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667392" y="4933084"/>
            <a:ext cx="953215" cy="95321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FF">
                    <a:alpha val="100000"/>
                  </a:srgbClr>
                </a:gs>
                <a:gs pos="100000">
                  <a:srgbClr val="FCCF37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9009534" y="5176655"/>
            <a:ext cx="366079" cy="466073"/>
          </a:xfrm>
          <a:custGeom>
            <a:avLst/>
            <a:gdLst/>
            <a:ahLst/>
            <a:cxnLst/>
            <a:rect l="l" t="t" r="r" b="b"/>
            <a:pathLst>
              <a:path w="366079" h="466073">
                <a:moveTo>
                  <a:pt x="0" y="0"/>
                </a:moveTo>
                <a:lnTo>
                  <a:pt x="366079" y="0"/>
                </a:lnTo>
                <a:lnTo>
                  <a:pt x="366079" y="466074"/>
                </a:lnTo>
                <a:lnTo>
                  <a:pt x="0" y="466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pic>
        <p:nvPicPr>
          <p:cNvPr id="12" name="Picture 1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211" r="211"/>
          <a:stretch>
            <a:fillRect/>
          </a:stretch>
        </p:blipFill>
        <p:spPr>
          <a:xfrm>
            <a:off x="2169763" y="1743075"/>
            <a:ext cx="13948475" cy="8229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896884" y="38100"/>
            <a:ext cx="16591378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</a:pPr>
            <a:r>
              <a:rPr lang="en-US" sz="5000" b="1">
                <a:solidFill>
                  <a:srgbClr val="FFF7D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How the platform lets recruiters search for candidates through voice commands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78974" y="9686344"/>
            <a:ext cx="125300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Recruitment is simplified by combining speech recognition, AI matching, and automated multi-channel 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69526" y="6380214"/>
            <a:ext cx="6151316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0"/>
              </a:lnSpc>
            </a:pPr>
            <a:r>
              <a:rPr lang="en-US" sz="6200" b="1">
                <a:solidFill>
                  <a:srgbClr val="FFF7D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Transforming recruitment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92417" y="6967921"/>
            <a:ext cx="9878605" cy="1534807"/>
            <a:chOff x="0" y="0"/>
            <a:chExt cx="2398076" cy="3725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98076" cy="372581"/>
            </a:xfrm>
            <a:custGeom>
              <a:avLst/>
              <a:gdLst/>
              <a:ahLst/>
              <a:cxnLst/>
              <a:rect l="l" t="t" r="r" b="b"/>
              <a:pathLst>
                <a:path w="2398076" h="372581">
                  <a:moveTo>
                    <a:pt x="27430" y="0"/>
                  </a:moveTo>
                  <a:lnTo>
                    <a:pt x="2370647" y="0"/>
                  </a:lnTo>
                  <a:cubicBezTo>
                    <a:pt x="2377921" y="0"/>
                    <a:pt x="2384898" y="2890"/>
                    <a:pt x="2390042" y="8034"/>
                  </a:cubicBezTo>
                  <a:cubicBezTo>
                    <a:pt x="2395186" y="13178"/>
                    <a:pt x="2398076" y="20155"/>
                    <a:pt x="2398076" y="27430"/>
                  </a:cubicBezTo>
                  <a:lnTo>
                    <a:pt x="2398076" y="345152"/>
                  </a:lnTo>
                  <a:cubicBezTo>
                    <a:pt x="2398076" y="352426"/>
                    <a:pt x="2395186" y="359403"/>
                    <a:pt x="2390042" y="364547"/>
                  </a:cubicBezTo>
                  <a:cubicBezTo>
                    <a:pt x="2384898" y="369691"/>
                    <a:pt x="2377921" y="372581"/>
                    <a:pt x="2370647" y="372581"/>
                  </a:cubicBezTo>
                  <a:lnTo>
                    <a:pt x="27430" y="372581"/>
                  </a:lnTo>
                  <a:cubicBezTo>
                    <a:pt x="20155" y="372581"/>
                    <a:pt x="13178" y="369691"/>
                    <a:pt x="8034" y="364547"/>
                  </a:cubicBezTo>
                  <a:cubicBezTo>
                    <a:pt x="2890" y="359403"/>
                    <a:pt x="0" y="352426"/>
                    <a:pt x="0" y="345152"/>
                  </a:cubicBezTo>
                  <a:lnTo>
                    <a:pt x="0" y="27430"/>
                  </a:lnTo>
                  <a:cubicBezTo>
                    <a:pt x="0" y="20155"/>
                    <a:pt x="2890" y="13178"/>
                    <a:pt x="8034" y="8034"/>
                  </a:cubicBezTo>
                  <a:cubicBezTo>
                    <a:pt x="13178" y="2890"/>
                    <a:pt x="20155" y="0"/>
                    <a:pt x="27430" y="0"/>
                  </a:cubicBezTo>
                  <a:close/>
                </a:path>
              </a:pathLst>
            </a:custGeom>
            <a:solidFill>
              <a:srgbClr val="4B3843"/>
            </a:solidFill>
            <a:ln w="28575" cap="rnd">
              <a:gradFill>
                <a:gsLst>
                  <a:gs pos="0">
                    <a:srgbClr val="FD01FD">
                      <a:alpha val="100000"/>
                    </a:srgbClr>
                  </a:gs>
                  <a:gs pos="100000">
                    <a:srgbClr val="FCCF3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398076" cy="439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92417" y="1894192"/>
            <a:ext cx="9878605" cy="1429051"/>
            <a:chOff x="0" y="0"/>
            <a:chExt cx="2398076" cy="3469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98076" cy="346909"/>
            </a:xfrm>
            <a:custGeom>
              <a:avLst/>
              <a:gdLst/>
              <a:ahLst/>
              <a:cxnLst/>
              <a:rect l="l" t="t" r="r" b="b"/>
              <a:pathLst>
                <a:path w="2398076" h="346909">
                  <a:moveTo>
                    <a:pt x="27430" y="0"/>
                  </a:moveTo>
                  <a:lnTo>
                    <a:pt x="2370647" y="0"/>
                  </a:lnTo>
                  <a:cubicBezTo>
                    <a:pt x="2377921" y="0"/>
                    <a:pt x="2384898" y="2890"/>
                    <a:pt x="2390042" y="8034"/>
                  </a:cubicBezTo>
                  <a:cubicBezTo>
                    <a:pt x="2395186" y="13178"/>
                    <a:pt x="2398076" y="20155"/>
                    <a:pt x="2398076" y="27430"/>
                  </a:cubicBezTo>
                  <a:lnTo>
                    <a:pt x="2398076" y="319479"/>
                  </a:lnTo>
                  <a:cubicBezTo>
                    <a:pt x="2398076" y="326754"/>
                    <a:pt x="2395186" y="333731"/>
                    <a:pt x="2390042" y="338875"/>
                  </a:cubicBezTo>
                  <a:cubicBezTo>
                    <a:pt x="2384898" y="344019"/>
                    <a:pt x="2377921" y="346909"/>
                    <a:pt x="2370647" y="346909"/>
                  </a:cubicBezTo>
                  <a:lnTo>
                    <a:pt x="27430" y="346909"/>
                  </a:lnTo>
                  <a:cubicBezTo>
                    <a:pt x="20155" y="346909"/>
                    <a:pt x="13178" y="344019"/>
                    <a:pt x="8034" y="338875"/>
                  </a:cubicBezTo>
                  <a:cubicBezTo>
                    <a:pt x="2890" y="333731"/>
                    <a:pt x="0" y="326754"/>
                    <a:pt x="0" y="319479"/>
                  </a:cubicBezTo>
                  <a:lnTo>
                    <a:pt x="0" y="27430"/>
                  </a:lnTo>
                  <a:cubicBezTo>
                    <a:pt x="0" y="20155"/>
                    <a:pt x="2890" y="13178"/>
                    <a:pt x="8034" y="8034"/>
                  </a:cubicBezTo>
                  <a:cubicBezTo>
                    <a:pt x="13178" y="2890"/>
                    <a:pt x="20155" y="0"/>
                    <a:pt x="27430" y="0"/>
                  </a:cubicBezTo>
                  <a:close/>
                </a:path>
              </a:pathLst>
            </a:custGeom>
            <a:solidFill>
              <a:srgbClr val="4B3843"/>
            </a:solidFill>
            <a:ln w="28575" cap="rnd">
              <a:gradFill>
                <a:gsLst>
                  <a:gs pos="0">
                    <a:srgbClr val="FD01FD">
                      <a:alpha val="100000"/>
                    </a:srgbClr>
                  </a:gs>
                  <a:gs pos="100000">
                    <a:srgbClr val="FCCF3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2398076" cy="4135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2417" y="5330369"/>
            <a:ext cx="9878605" cy="1502386"/>
            <a:chOff x="0" y="0"/>
            <a:chExt cx="2398076" cy="3647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98076" cy="364711"/>
            </a:xfrm>
            <a:custGeom>
              <a:avLst/>
              <a:gdLst/>
              <a:ahLst/>
              <a:cxnLst/>
              <a:rect l="l" t="t" r="r" b="b"/>
              <a:pathLst>
                <a:path w="2398076" h="364711">
                  <a:moveTo>
                    <a:pt x="27430" y="0"/>
                  </a:moveTo>
                  <a:lnTo>
                    <a:pt x="2370647" y="0"/>
                  </a:lnTo>
                  <a:cubicBezTo>
                    <a:pt x="2377921" y="0"/>
                    <a:pt x="2384898" y="2890"/>
                    <a:pt x="2390042" y="8034"/>
                  </a:cubicBezTo>
                  <a:cubicBezTo>
                    <a:pt x="2395186" y="13178"/>
                    <a:pt x="2398076" y="20155"/>
                    <a:pt x="2398076" y="27430"/>
                  </a:cubicBezTo>
                  <a:lnTo>
                    <a:pt x="2398076" y="337281"/>
                  </a:lnTo>
                  <a:cubicBezTo>
                    <a:pt x="2398076" y="344556"/>
                    <a:pt x="2395186" y="351533"/>
                    <a:pt x="2390042" y="356677"/>
                  </a:cubicBezTo>
                  <a:cubicBezTo>
                    <a:pt x="2384898" y="361821"/>
                    <a:pt x="2377921" y="364711"/>
                    <a:pt x="2370647" y="364711"/>
                  </a:cubicBezTo>
                  <a:lnTo>
                    <a:pt x="27430" y="364711"/>
                  </a:lnTo>
                  <a:cubicBezTo>
                    <a:pt x="20155" y="364711"/>
                    <a:pt x="13178" y="361821"/>
                    <a:pt x="8034" y="356677"/>
                  </a:cubicBezTo>
                  <a:cubicBezTo>
                    <a:pt x="2890" y="351533"/>
                    <a:pt x="0" y="344556"/>
                    <a:pt x="0" y="337281"/>
                  </a:cubicBezTo>
                  <a:lnTo>
                    <a:pt x="0" y="27430"/>
                  </a:lnTo>
                  <a:cubicBezTo>
                    <a:pt x="0" y="20155"/>
                    <a:pt x="2890" y="13178"/>
                    <a:pt x="8034" y="8034"/>
                  </a:cubicBezTo>
                  <a:cubicBezTo>
                    <a:pt x="13178" y="2890"/>
                    <a:pt x="20155" y="0"/>
                    <a:pt x="274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D01FD">
                    <a:alpha val="100000"/>
                  </a:srgbClr>
                </a:gs>
                <a:gs pos="100000">
                  <a:srgbClr val="FCCF37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2398076" cy="431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2417" y="8637893"/>
            <a:ext cx="9878605" cy="1426115"/>
            <a:chOff x="0" y="0"/>
            <a:chExt cx="2398076" cy="3461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98076" cy="346196"/>
            </a:xfrm>
            <a:custGeom>
              <a:avLst/>
              <a:gdLst/>
              <a:ahLst/>
              <a:cxnLst/>
              <a:rect l="l" t="t" r="r" b="b"/>
              <a:pathLst>
                <a:path w="2398076" h="346196">
                  <a:moveTo>
                    <a:pt x="27430" y="0"/>
                  </a:moveTo>
                  <a:lnTo>
                    <a:pt x="2370647" y="0"/>
                  </a:lnTo>
                  <a:cubicBezTo>
                    <a:pt x="2377921" y="0"/>
                    <a:pt x="2384898" y="2890"/>
                    <a:pt x="2390042" y="8034"/>
                  </a:cubicBezTo>
                  <a:cubicBezTo>
                    <a:pt x="2395186" y="13178"/>
                    <a:pt x="2398076" y="20155"/>
                    <a:pt x="2398076" y="27430"/>
                  </a:cubicBezTo>
                  <a:lnTo>
                    <a:pt x="2398076" y="318766"/>
                  </a:lnTo>
                  <a:cubicBezTo>
                    <a:pt x="2398076" y="326041"/>
                    <a:pt x="2395186" y="333018"/>
                    <a:pt x="2390042" y="338162"/>
                  </a:cubicBezTo>
                  <a:cubicBezTo>
                    <a:pt x="2384898" y="343306"/>
                    <a:pt x="2377921" y="346196"/>
                    <a:pt x="2370647" y="346196"/>
                  </a:cubicBezTo>
                  <a:lnTo>
                    <a:pt x="27430" y="346196"/>
                  </a:lnTo>
                  <a:cubicBezTo>
                    <a:pt x="20155" y="346196"/>
                    <a:pt x="13178" y="343306"/>
                    <a:pt x="8034" y="338162"/>
                  </a:cubicBezTo>
                  <a:cubicBezTo>
                    <a:pt x="2890" y="333018"/>
                    <a:pt x="0" y="326041"/>
                    <a:pt x="0" y="318766"/>
                  </a:cubicBezTo>
                  <a:lnTo>
                    <a:pt x="0" y="27430"/>
                  </a:lnTo>
                  <a:cubicBezTo>
                    <a:pt x="0" y="20155"/>
                    <a:pt x="2890" y="13178"/>
                    <a:pt x="8034" y="8034"/>
                  </a:cubicBezTo>
                  <a:cubicBezTo>
                    <a:pt x="13178" y="2890"/>
                    <a:pt x="20155" y="0"/>
                    <a:pt x="27430" y="0"/>
                  </a:cubicBezTo>
                  <a:close/>
                </a:path>
              </a:pathLst>
            </a:custGeom>
            <a:solidFill>
              <a:srgbClr val="4B3843"/>
            </a:solidFill>
            <a:ln w="28575" cap="rnd">
              <a:gradFill>
                <a:gsLst>
                  <a:gs pos="0">
                    <a:srgbClr val="FD01FD">
                      <a:alpha val="100000"/>
                    </a:srgbClr>
                  </a:gs>
                  <a:gs pos="100000">
                    <a:srgbClr val="FCCF3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2398076" cy="412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534894"/>
            <a:ext cx="7528323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Voice recording and transcription using Whisper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289753"/>
            <a:ext cx="9206039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Candidate search results displayed in interactive cards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FFF7D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3917899"/>
            <a:ext cx="564143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Voice AI provides 24/7 support, reducing wait times and improving communication.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787569"/>
            <a:ext cx="7259369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Multi-channel output: Slack / Email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FFF7D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54765" y="9049526"/>
            <a:ext cx="8904919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Interactive Gmail invitation composition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FFF7D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2564402" y="-2021847"/>
            <a:ext cx="7832079" cy="783207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3843">
                <a:alpha val="74902"/>
              </a:srgbClr>
            </a:solidFill>
            <a:ln w="9525" cap="sq">
              <a:gradFill>
                <a:gsLst>
                  <a:gs pos="0">
                    <a:srgbClr val="FD01FD">
                      <a:alpha val="75000"/>
                    </a:srgbClr>
                  </a:gs>
                  <a:gs pos="100000">
                    <a:srgbClr val="FCCF37">
                      <a:alpha val="75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745820" y="3551843"/>
            <a:ext cx="1359425" cy="1359425"/>
            <a:chOff x="0" y="0"/>
            <a:chExt cx="1812567" cy="1812567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812567" cy="1812567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00FF">
                      <a:alpha val="100000"/>
                    </a:srgbClr>
                  </a:gs>
                  <a:gs pos="100000">
                    <a:srgbClr val="FCCF37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FI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337501" y="339254"/>
              <a:ext cx="1137565" cy="1158631"/>
            </a:xfrm>
            <a:custGeom>
              <a:avLst/>
              <a:gdLst/>
              <a:ahLst/>
              <a:cxnLst/>
              <a:rect l="l" t="t" r="r" b="b"/>
              <a:pathLst>
                <a:path w="1137565" h="1158631">
                  <a:moveTo>
                    <a:pt x="0" y="0"/>
                  </a:moveTo>
                  <a:lnTo>
                    <a:pt x="1137565" y="0"/>
                  </a:lnTo>
                  <a:lnTo>
                    <a:pt x="1137565" y="1158631"/>
                  </a:lnTo>
                  <a:lnTo>
                    <a:pt x="0" y="11586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FI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7922" y="3551843"/>
            <a:ext cx="9878605" cy="1566519"/>
            <a:chOff x="0" y="0"/>
            <a:chExt cx="2398076" cy="3802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398076" cy="380280"/>
            </a:xfrm>
            <a:custGeom>
              <a:avLst/>
              <a:gdLst/>
              <a:ahLst/>
              <a:cxnLst/>
              <a:rect l="l" t="t" r="r" b="b"/>
              <a:pathLst>
                <a:path w="2398076" h="380280">
                  <a:moveTo>
                    <a:pt x="27430" y="0"/>
                  </a:moveTo>
                  <a:lnTo>
                    <a:pt x="2370647" y="0"/>
                  </a:lnTo>
                  <a:cubicBezTo>
                    <a:pt x="2377921" y="0"/>
                    <a:pt x="2384898" y="2890"/>
                    <a:pt x="2390042" y="8034"/>
                  </a:cubicBezTo>
                  <a:cubicBezTo>
                    <a:pt x="2395186" y="13178"/>
                    <a:pt x="2398076" y="20155"/>
                    <a:pt x="2398076" y="27430"/>
                  </a:cubicBezTo>
                  <a:lnTo>
                    <a:pt x="2398076" y="352850"/>
                  </a:lnTo>
                  <a:cubicBezTo>
                    <a:pt x="2398076" y="360125"/>
                    <a:pt x="2395186" y="367102"/>
                    <a:pt x="2390042" y="372246"/>
                  </a:cubicBezTo>
                  <a:cubicBezTo>
                    <a:pt x="2384898" y="377390"/>
                    <a:pt x="2377921" y="380280"/>
                    <a:pt x="2370647" y="380280"/>
                  </a:cubicBezTo>
                  <a:lnTo>
                    <a:pt x="27430" y="380280"/>
                  </a:lnTo>
                  <a:cubicBezTo>
                    <a:pt x="20155" y="380280"/>
                    <a:pt x="13178" y="377390"/>
                    <a:pt x="8034" y="372246"/>
                  </a:cubicBezTo>
                  <a:cubicBezTo>
                    <a:pt x="2890" y="367102"/>
                    <a:pt x="0" y="360125"/>
                    <a:pt x="0" y="352850"/>
                  </a:cubicBezTo>
                  <a:lnTo>
                    <a:pt x="0" y="27430"/>
                  </a:lnTo>
                  <a:cubicBezTo>
                    <a:pt x="0" y="20155"/>
                    <a:pt x="2890" y="13178"/>
                    <a:pt x="8034" y="8034"/>
                  </a:cubicBezTo>
                  <a:cubicBezTo>
                    <a:pt x="13178" y="2890"/>
                    <a:pt x="20155" y="0"/>
                    <a:pt x="274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D01FD">
                    <a:alpha val="100000"/>
                  </a:srgbClr>
                </a:gs>
                <a:gs pos="100000">
                  <a:srgbClr val="FCCF37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2398076" cy="446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67922" y="231085"/>
            <a:ext cx="9878605" cy="1434508"/>
            <a:chOff x="0" y="0"/>
            <a:chExt cx="2398076" cy="34823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398076" cy="348233"/>
            </a:xfrm>
            <a:custGeom>
              <a:avLst/>
              <a:gdLst/>
              <a:ahLst/>
              <a:cxnLst/>
              <a:rect l="l" t="t" r="r" b="b"/>
              <a:pathLst>
                <a:path w="2398076" h="348233">
                  <a:moveTo>
                    <a:pt x="27430" y="0"/>
                  </a:moveTo>
                  <a:lnTo>
                    <a:pt x="2370647" y="0"/>
                  </a:lnTo>
                  <a:cubicBezTo>
                    <a:pt x="2377921" y="0"/>
                    <a:pt x="2384898" y="2890"/>
                    <a:pt x="2390042" y="8034"/>
                  </a:cubicBezTo>
                  <a:cubicBezTo>
                    <a:pt x="2395186" y="13178"/>
                    <a:pt x="2398076" y="20155"/>
                    <a:pt x="2398076" y="27430"/>
                  </a:cubicBezTo>
                  <a:lnTo>
                    <a:pt x="2398076" y="320804"/>
                  </a:lnTo>
                  <a:cubicBezTo>
                    <a:pt x="2398076" y="328078"/>
                    <a:pt x="2395186" y="335055"/>
                    <a:pt x="2390042" y="340199"/>
                  </a:cubicBezTo>
                  <a:cubicBezTo>
                    <a:pt x="2384898" y="345343"/>
                    <a:pt x="2377921" y="348233"/>
                    <a:pt x="2370647" y="348233"/>
                  </a:cubicBezTo>
                  <a:lnTo>
                    <a:pt x="27430" y="348233"/>
                  </a:lnTo>
                  <a:cubicBezTo>
                    <a:pt x="20155" y="348233"/>
                    <a:pt x="13178" y="345343"/>
                    <a:pt x="8034" y="340199"/>
                  </a:cubicBezTo>
                  <a:cubicBezTo>
                    <a:pt x="2890" y="335055"/>
                    <a:pt x="0" y="328078"/>
                    <a:pt x="0" y="320804"/>
                  </a:cubicBezTo>
                  <a:lnTo>
                    <a:pt x="0" y="27430"/>
                  </a:lnTo>
                  <a:cubicBezTo>
                    <a:pt x="0" y="20155"/>
                    <a:pt x="2890" y="13178"/>
                    <a:pt x="8034" y="8034"/>
                  </a:cubicBezTo>
                  <a:cubicBezTo>
                    <a:pt x="13178" y="2890"/>
                    <a:pt x="20155" y="0"/>
                    <a:pt x="274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D01FD">
                    <a:alpha val="100000"/>
                  </a:srgbClr>
                </a:gs>
                <a:gs pos="100000">
                  <a:srgbClr val="FCCF37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2398076" cy="414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04205" y="640702"/>
            <a:ext cx="7259369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Voice recording and transcription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8700" y="7341211"/>
            <a:ext cx="8904919" cy="126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Rich candidate details: skills, licenses, languages, education, experience, salary, availability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FFF7D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04205" y="4013835"/>
            <a:ext cx="9878605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AI-generated match explanations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4545184" y="780639"/>
            <a:ext cx="2889504" cy="2696823"/>
            <a:chOff x="0" y="0"/>
            <a:chExt cx="447660" cy="41780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47660" cy="417809"/>
            </a:xfrm>
            <a:custGeom>
              <a:avLst/>
              <a:gdLst/>
              <a:ahLst/>
              <a:cxnLst/>
              <a:rect l="l" t="t" r="r" b="b"/>
              <a:pathLst>
                <a:path w="447660" h="417809">
                  <a:moveTo>
                    <a:pt x="107173" y="0"/>
                  </a:moveTo>
                  <a:lnTo>
                    <a:pt x="340487" y="0"/>
                  </a:lnTo>
                  <a:cubicBezTo>
                    <a:pt x="368911" y="0"/>
                    <a:pt x="396171" y="11291"/>
                    <a:pt x="416270" y="31390"/>
                  </a:cubicBezTo>
                  <a:cubicBezTo>
                    <a:pt x="436368" y="51489"/>
                    <a:pt x="447660" y="78749"/>
                    <a:pt x="447660" y="107173"/>
                  </a:cubicBezTo>
                  <a:lnTo>
                    <a:pt x="447660" y="310635"/>
                  </a:lnTo>
                  <a:cubicBezTo>
                    <a:pt x="447660" y="339060"/>
                    <a:pt x="436368" y="366319"/>
                    <a:pt x="416270" y="386418"/>
                  </a:cubicBezTo>
                  <a:cubicBezTo>
                    <a:pt x="396171" y="406517"/>
                    <a:pt x="368911" y="417809"/>
                    <a:pt x="340487" y="417809"/>
                  </a:cubicBezTo>
                  <a:lnTo>
                    <a:pt x="107173" y="417809"/>
                  </a:lnTo>
                  <a:cubicBezTo>
                    <a:pt x="78749" y="417809"/>
                    <a:pt x="51489" y="406517"/>
                    <a:pt x="31390" y="386418"/>
                  </a:cubicBezTo>
                  <a:cubicBezTo>
                    <a:pt x="11291" y="366319"/>
                    <a:pt x="0" y="339060"/>
                    <a:pt x="0" y="310635"/>
                  </a:cubicBezTo>
                  <a:lnTo>
                    <a:pt x="0" y="107173"/>
                  </a:lnTo>
                  <a:cubicBezTo>
                    <a:pt x="0" y="78749"/>
                    <a:pt x="11291" y="51489"/>
                    <a:pt x="31390" y="31390"/>
                  </a:cubicBezTo>
                  <a:cubicBezTo>
                    <a:pt x="51489" y="11291"/>
                    <a:pt x="78749" y="0"/>
                    <a:pt x="107173" y="0"/>
                  </a:cubicBezTo>
                  <a:close/>
                </a:path>
              </a:pathLst>
            </a:custGeom>
            <a:blipFill>
              <a:blip r:embed="rId3"/>
              <a:stretch>
                <a:fillRect l="-16294" r="-23575"/>
              </a:stretch>
            </a:blipFill>
          </p:spPr>
          <p:txBody>
            <a:bodyPr/>
            <a:lstStyle/>
            <a:p>
              <a:endParaRPr lang="en-FI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439014" y="-3322218"/>
            <a:ext cx="12580518" cy="125805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3843">
                <a:alpha val="74902"/>
              </a:srgbClr>
            </a:solidFill>
            <a:ln w="9525" cap="sq">
              <a:gradFill>
                <a:gsLst>
                  <a:gs pos="0">
                    <a:srgbClr val="FD01FD">
                      <a:alpha val="75000"/>
                    </a:srgbClr>
                  </a:gs>
                  <a:gs pos="100000">
                    <a:srgbClr val="FCCF37">
                      <a:alpha val="75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254544" y="-2137748"/>
            <a:ext cx="10211577" cy="10211577"/>
            <a:chOff x="0" y="0"/>
            <a:chExt cx="1949067" cy="19490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49067" cy="1949067"/>
            </a:xfrm>
            <a:custGeom>
              <a:avLst/>
              <a:gdLst/>
              <a:ahLst/>
              <a:cxnLst/>
              <a:rect l="l" t="t" r="r" b="b"/>
              <a:pathLst>
                <a:path w="1949067" h="1949067">
                  <a:moveTo>
                    <a:pt x="974534" y="0"/>
                  </a:moveTo>
                  <a:cubicBezTo>
                    <a:pt x="436314" y="0"/>
                    <a:pt x="0" y="436314"/>
                    <a:pt x="0" y="974534"/>
                  </a:cubicBezTo>
                  <a:cubicBezTo>
                    <a:pt x="0" y="1512754"/>
                    <a:pt x="436314" y="1949067"/>
                    <a:pt x="974534" y="1949067"/>
                  </a:cubicBezTo>
                  <a:cubicBezTo>
                    <a:pt x="1512754" y="1949067"/>
                    <a:pt x="1949067" y="1512754"/>
                    <a:pt x="1949067" y="974534"/>
                  </a:cubicBezTo>
                  <a:cubicBezTo>
                    <a:pt x="1949067" y="436314"/>
                    <a:pt x="1512754" y="0"/>
                    <a:pt x="974534" y="0"/>
                  </a:cubicBezTo>
                  <a:close/>
                </a:path>
              </a:pathLst>
            </a:custGeom>
            <a:blipFill>
              <a:blip r:embed="rId2"/>
              <a:stretch>
                <a:fillRect t="-1169" b="-23830"/>
              </a:stretch>
            </a:blipFill>
          </p:spPr>
          <p:txBody>
            <a:bodyPr/>
            <a:lstStyle/>
            <a:p>
              <a:endParaRPr lang="en-FI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23872" y="2208228"/>
            <a:ext cx="7209726" cy="47625"/>
            <a:chOff x="0" y="0"/>
            <a:chExt cx="1750194" cy="1156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50194" cy="11561"/>
            </a:xfrm>
            <a:custGeom>
              <a:avLst/>
              <a:gdLst/>
              <a:ahLst/>
              <a:cxnLst/>
              <a:rect l="l" t="t" r="r" b="b"/>
              <a:pathLst>
                <a:path w="1750194" h="11561">
                  <a:moveTo>
                    <a:pt x="5781" y="0"/>
                  </a:moveTo>
                  <a:lnTo>
                    <a:pt x="1744413" y="0"/>
                  </a:lnTo>
                  <a:cubicBezTo>
                    <a:pt x="1745946" y="0"/>
                    <a:pt x="1747417" y="609"/>
                    <a:pt x="1748501" y="1693"/>
                  </a:cubicBezTo>
                  <a:cubicBezTo>
                    <a:pt x="1749585" y="2777"/>
                    <a:pt x="1750194" y="4247"/>
                    <a:pt x="1750194" y="5781"/>
                  </a:cubicBezTo>
                  <a:lnTo>
                    <a:pt x="1750194" y="5781"/>
                  </a:lnTo>
                  <a:cubicBezTo>
                    <a:pt x="1750194" y="8973"/>
                    <a:pt x="1747606" y="11561"/>
                    <a:pt x="1744413" y="11561"/>
                  </a:cubicBezTo>
                  <a:lnTo>
                    <a:pt x="5781" y="11561"/>
                  </a:lnTo>
                  <a:cubicBezTo>
                    <a:pt x="4247" y="11561"/>
                    <a:pt x="2777" y="10952"/>
                    <a:pt x="1693" y="9868"/>
                  </a:cubicBezTo>
                  <a:cubicBezTo>
                    <a:pt x="609" y="8784"/>
                    <a:pt x="0" y="7314"/>
                    <a:pt x="0" y="5781"/>
                  </a:cubicBezTo>
                  <a:lnTo>
                    <a:pt x="0" y="5781"/>
                  </a:lnTo>
                  <a:cubicBezTo>
                    <a:pt x="0" y="4247"/>
                    <a:pt x="609" y="2777"/>
                    <a:pt x="1693" y="1693"/>
                  </a:cubicBezTo>
                  <a:cubicBezTo>
                    <a:pt x="2777" y="609"/>
                    <a:pt x="4247" y="0"/>
                    <a:pt x="57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D01FD">
                    <a:alpha val="100000"/>
                  </a:srgbClr>
                </a:gs>
                <a:gs pos="100000">
                  <a:srgbClr val="FCCF37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750194" cy="78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806922" y="7315200"/>
            <a:ext cx="7786042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440"/>
              </a:lnSpc>
            </a:pPr>
            <a:r>
              <a:rPr lang="en-US" sz="6200" b="1">
                <a:solidFill>
                  <a:srgbClr val="FFF7D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Speed Matters </a:t>
            </a:r>
          </a:p>
          <a:p>
            <a:pPr marL="0" lvl="0" indent="0" algn="r">
              <a:lnSpc>
                <a:spcPts val="7440"/>
              </a:lnSpc>
            </a:pPr>
            <a:r>
              <a:rPr lang="en-US" sz="6200" b="1">
                <a:solidFill>
                  <a:srgbClr val="FFF7D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 the Digital Era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10460" y="2425116"/>
            <a:ext cx="7423138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00"/>
              </a:lnSpc>
              <a:spcBef>
                <a:spcPct val="0"/>
              </a:spcBef>
            </a:pPr>
            <a:r>
              <a:rPr lang="en-US" sz="1500" dirty="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Voice commands are faster than traditional typing for tasks like messaging, and online searches. This efficiency enhances productivity and creates a more natural digital interaction.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06922" y="962025"/>
            <a:ext cx="7089964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The project demonstrates how AI can simplify and automate recruitment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95340" y="3973286"/>
            <a:ext cx="13297320" cy="4811212"/>
          </a:xfrm>
          <a:custGeom>
            <a:avLst/>
            <a:gdLst/>
            <a:ahLst/>
            <a:cxnLst/>
            <a:rect l="l" t="t" r="r" b="b"/>
            <a:pathLst>
              <a:path w="13297320" h="4811212">
                <a:moveTo>
                  <a:pt x="0" y="0"/>
                </a:moveTo>
                <a:lnTo>
                  <a:pt x="13297320" y="0"/>
                </a:lnTo>
                <a:lnTo>
                  <a:pt x="13297320" y="4811213"/>
                </a:lnTo>
                <a:lnTo>
                  <a:pt x="0" y="48112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sp>
        <p:nvSpPr>
          <p:cNvPr id="3" name="TextBox 3"/>
          <p:cNvSpPr txBox="1"/>
          <p:nvPr/>
        </p:nvSpPr>
        <p:spPr>
          <a:xfrm>
            <a:off x="1028700" y="874922"/>
            <a:ext cx="16230600" cy="288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40"/>
              </a:lnSpc>
            </a:pPr>
            <a:r>
              <a:rPr lang="en-US" sz="6200" b="1">
                <a:solidFill>
                  <a:srgbClr val="FFF7D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Addressing authentication, real-time streaming transcription, and deployment to cloud infrastructure.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81517" y="8930113"/>
            <a:ext cx="10124966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What Still Needs Improvement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29876" y="2177917"/>
            <a:ext cx="3828249" cy="38282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3843">
                <a:alpha val="50980"/>
              </a:srgbClr>
            </a:solidFill>
            <a:ln w="9525" cap="sq">
              <a:gradFill>
                <a:gsLst>
                  <a:gs pos="0">
                    <a:srgbClr val="FD01FD">
                      <a:alpha val="51000"/>
                    </a:srgbClr>
                  </a:gs>
                  <a:gs pos="100000">
                    <a:srgbClr val="FCCF37">
                      <a:alpha val="51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12607" y="2560649"/>
            <a:ext cx="3062786" cy="306278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3843">
                <a:alpha val="80784"/>
              </a:srgbClr>
            </a:solidFill>
            <a:ln w="9525" cap="sq">
              <a:gradFill>
                <a:gsLst>
                  <a:gs pos="0">
                    <a:srgbClr val="FD01FD">
                      <a:alpha val="81000"/>
                    </a:srgbClr>
                  </a:gs>
                  <a:gs pos="100000">
                    <a:srgbClr val="FCCF37">
                      <a:alpha val="81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947258" y="2879076"/>
            <a:ext cx="2393485" cy="239348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FF">
                    <a:alpha val="100000"/>
                  </a:srgbClr>
                </a:gs>
                <a:gs pos="100000">
                  <a:srgbClr val="FCCF37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FI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392926" y="3327059"/>
            <a:ext cx="1502147" cy="1529965"/>
          </a:xfrm>
          <a:custGeom>
            <a:avLst/>
            <a:gdLst/>
            <a:ahLst/>
            <a:cxnLst/>
            <a:rect l="l" t="t" r="r" b="b"/>
            <a:pathLst>
              <a:path w="1502147" h="1529965">
                <a:moveTo>
                  <a:pt x="0" y="0"/>
                </a:moveTo>
                <a:lnTo>
                  <a:pt x="1502148" y="0"/>
                </a:lnTo>
                <a:lnTo>
                  <a:pt x="1502148" y="1529965"/>
                </a:lnTo>
                <a:lnTo>
                  <a:pt x="0" y="1529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FI"/>
          </a:p>
        </p:txBody>
      </p:sp>
      <p:sp>
        <p:nvSpPr>
          <p:cNvPr id="12" name="TextBox 12"/>
          <p:cNvSpPr txBox="1"/>
          <p:nvPr/>
        </p:nvSpPr>
        <p:spPr>
          <a:xfrm>
            <a:off x="1781254" y="6568773"/>
            <a:ext cx="14725491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40"/>
              </a:lnSpc>
            </a:pPr>
            <a:r>
              <a:rPr lang="en-US" sz="6200" b="1">
                <a:solidFill>
                  <a:srgbClr val="FFF7D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 you for your attention.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81254" y="7684268"/>
            <a:ext cx="14725491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7DD"/>
                </a:solidFill>
                <a:latin typeface="Poppins"/>
                <a:ea typeface="Poppins"/>
                <a:cs typeface="Poppins"/>
                <a:sym typeface="Poppins"/>
              </a:rPr>
              <a:t>Let’s create a future where technology listens, understands, and enhances human potential.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361</Words>
  <Application>Microsoft Office PowerPoint</Application>
  <PresentationFormat>Custom</PresentationFormat>
  <Paragraphs>46</Paragraphs>
  <Slides>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Poppins Medium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Candidate Voice Search</dc:title>
  <cp:lastModifiedBy>Ngoc Sang Ngo</cp:lastModifiedBy>
  <cp:revision>2</cp:revision>
  <dcterms:created xsi:type="dcterms:W3CDTF">2006-08-16T00:00:00Z</dcterms:created>
  <dcterms:modified xsi:type="dcterms:W3CDTF">2026-04-04T13:17:41Z</dcterms:modified>
  <dc:identifier>DAHF4ghyK74</dc:identifier>
</cp:coreProperties>
</file>